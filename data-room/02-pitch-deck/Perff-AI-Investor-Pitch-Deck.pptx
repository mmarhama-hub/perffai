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01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MENA Spends Billions on Ads.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Almost None of It Is Performance-Based.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8E6EC"/>
                </a:solidFill>
                <a:latin typeface="Calibri"/>
              </a:defRPr>
            </a:pPr>
            <a:r>
              <a:t>The region's e-commerce market grows 15% annually — faster than any major market — yet captures barely 2% of the $18B global affiliate marketing industry. That gap is our opportunity.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MENA E-com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FASTEST GLOBALLY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Affiliate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480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VS 15% IN WEST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$1.5B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MENA 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480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GROWING 25%+ YoY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335×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CAC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4805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VS AFFILIATE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02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Shopify of Affiliate Marketing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for the Middle East.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8E6EC"/>
                </a:solidFill>
                <a:latin typeface="Calibri"/>
              </a:defRPr>
            </a:pPr>
            <a:r>
              <a:t>Perff AI is an AI-powered platform connecting brands with affiliate publishers — automating campaign matching, fraud detection, and performance optimization so brands pay only for real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C29D"/>
                </a:solidFill>
                <a:latin typeface="Calibri"/>
              </a:defRPr>
            </a:pPr>
            <a:r>
              <a:t>🏢 Brand  →  🧠 Perff AI  →  📱 Publisher  →  👤 Customer  →  💰 Everyone Paid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AI-Powered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Automatically connects brands with highest-performing publishers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42062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42062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4389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Fraud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Multi-layer protection against VPN masking, click farms, bot traffic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2062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42062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389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Real-Time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Predictive campaign scoring, automated budget reallocation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03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PROOF —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50+ Enterprise Brands.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$50M+ in Sales Driven.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8E6EC"/>
                </a:solidFill>
                <a:latin typeface="Calibri"/>
              </a:defRPr>
            </a:pPr>
            <a:r>
              <a:t>Real revenue, real clients, real results. Not a concept — a proven business growing 35% year-over-year.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870+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Publishers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LARGEST IN MENA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$50M+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Sales 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566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FOR BRANDS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Conversion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566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3–8× INDUSTRY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66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+20pts ABOVE 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YoY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566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2.5×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3C29D"/>
                </a:solidFill>
                <a:latin typeface="Consolas"/>
              </a:defRPr>
            </a:pPr>
            <a:r>
              <a:t>1.2M+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Qualified Leads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5661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3C29D"/>
                </a:solidFill>
                <a:latin typeface="Consolas"/>
              </a:defRPr>
            </a:pPr>
            <a:r>
              <a:t>GENERATED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400"/>
              </a:spcBef>
              <a:spcAft>
                <a:spcPts val="400"/>
              </a:spcAft>
              <a:defRPr sz="900" b="0">
                <a:solidFill>
                  <a:srgbClr val="587E8C"/>
                </a:solidFill>
                <a:latin typeface="Consolas"/>
              </a:defRPr>
            </a:pPr>
            <a:r>
              <a:t>Trusted by MENA's leading brands across 9 verticals</a:t>
            </a:r>
          </a:p>
          <a:p>
            <a:pPr algn="ctr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D8E6EC"/>
                </a:solidFill>
                <a:latin typeface="Calibri"/>
              </a:defRPr>
            </a:pPr>
            <a:r>
              <a:t>noon · Talabat · NAMSHI · DAMAC · Trendyol · OSN · StarzPlay · HYCM · Evest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D8E6EC"/>
                </a:solidFill>
                <a:latin typeface="Calibri"/>
              </a:defRPr>
            </a:pPr>
            <a:r>
              <a:t>eyewa · Homzmart · 6thStreet · OUNASS · SIVVI · Mumzworld · Level Shoes · NBA Store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587E8C"/>
                </a:solidFill>
                <a:latin typeface="Calibri"/>
              </a:defRPr>
            </a:pPr>
            <a:r>
              <a:t>Calo · DailyMealz · MultiBank · hummel · Courir · Go Sport · Nice One · Temu · Styli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04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15% E-Commerce Growth.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2% Affiliate Capture.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8E6EC"/>
                </a:solidFill>
                <a:latin typeface="Calibri"/>
              </a:defRPr>
            </a:pPr>
            <a:r>
              <a:t>MENA's digital economy is booming but the performance marketing infrastructure is broken — or simply doesn't exist.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515E"/>
                </a:solidFill>
                <a:latin typeface="Consolas"/>
              </a:defRPr>
            </a:pPr>
            <a:r>
              <a:t>🏢  FOR BRANDS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80% of MENA brands have zero affiliate programs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CAC 335× higher than affiliate benchmarks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No reliable platform to find publishers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Fraud rates 3–5× global average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Manual tracking via spreadsheets &amp; WhatsApp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No Arabic-language optimization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515E"/>
                </a:solidFill>
                <a:latin typeface="Consolas"/>
              </a:defRPr>
            </a:pPr>
            <a:r>
              <a:t>📱  FOR PUBLISHERS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Zero reliable MENA-native platforms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Payment delays of 60–120 days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No data transparency or optimization tools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Western tools ignore Arabic content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No local payment rail support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❌ Fragmented market — no single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515E"/>
                </a:solidFill>
                <a:latin typeface="Calibri"/>
              </a:defRPr>
            </a:pPr>
            <a:r>
              <a:t>THE RESULT: Billions in ad spend → Unmeasurable ROI → Brands overpay → Publishers underearned → Market stays underdeveloped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05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One Platform.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Complete Affiliate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8E6EC"/>
                </a:solidFill>
                <a:latin typeface="Calibri"/>
              </a:defRPr>
            </a:pPr>
            <a:r>
              <a:t>Perff AI replaces spreadsheets, WhatsApp groups, and manual tracking with an AI-powered platform that automates the entire affiliate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Publisher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ML analyzes publisher audiences and performance for optimal pairings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8.2% CVR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2918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32918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19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Fraud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19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Multi-layer MENA-trained detection — VPN, click farms, bots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3–5× Better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2918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2918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794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Smart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069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Real-time budget reallocation, predictive scoring, auto-reporting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7.0× ROAS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5778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60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Transparent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355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Real-time dashboards, full attribution, conversion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858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Real-Time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59" y="55778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59" y="55778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19" y="5760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19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Reliable Payments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19" y="6355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On-time via bank transfer, PayPal, local methods. #1 pain solved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19" y="6858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64% Organic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5577840"/>
            <a:ext cx="34747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55778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5760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MENA-Native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6355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Arabic-first, local currency, regional consumer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6858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4 Markets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06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How We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Make Money.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8E6EC"/>
                </a:solidFill>
                <a:latin typeface="Calibri"/>
              </a:defRPr>
            </a:pPr>
            <a:r>
              <a:t>Performance-based revenue with built-in alignment — we only make money when our clients get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108960"/>
            <a:ext cx="2743200" cy="10972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🏢 Brand Pays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74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Per conversion (CPA/CPS)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C29D"/>
                </a:solidFill>
                <a:latin typeface="Consolas"/>
              </a:defRPr>
            </a:pPr>
            <a:r>
              <a:t>$100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3C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108960"/>
            <a:ext cx="2743200" cy="1097280"/>
          </a:xfrm>
          <a:prstGeom prst="round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519"/>
                </a:solidFill>
                <a:latin typeface="Calibri"/>
              </a:defRPr>
            </a:pPr>
            <a:r>
              <a:t>🧠 Perff AI Keeps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474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B1519"/>
                </a:solidFill>
                <a:latin typeface="Calibri"/>
              </a:defRPr>
            </a:pPr>
            <a:r>
              <a:t>Performance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519"/>
                </a:solidFill>
                <a:latin typeface="Consolas"/>
              </a:defRPr>
            </a:pPr>
            <a:r>
              <a:t>$20–35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3C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3108960"/>
            <a:ext cx="2743200" cy="10972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📱 Publisher Earns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474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Commission payout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3C29D"/>
                </a:solidFill>
                <a:latin typeface="Consolas"/>
              </a:defRPr>
            </a:pPr>
            <a:r>
              <a:t>$65–80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3C29D"/>
                </a:solidFill>
                <a:latin typeface="Consolas"/>
              </a:defRPr>
            </a:pPr>
            <a:r>
              <a:t>PRIMARY — 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Performance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7E8C"/>
                </a:solidFill>
                <a:latin typeface="Calibri"/>
              </a:defRPr>
            </a:pPr>
            <a:r>
              <a:t>Brand pays per conversion. Perff AI keeps the spread. 20–35% gross margin on every transaction.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90%+ of Revenue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457200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47091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0A54B"/>
                </a:solidFill>
                <a:latin typeface="Consolas"/>
              </a:defRPr>
            </a:pPr>
            <a:r>
              <a:t>SCALING —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SaaS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19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7E8C"/>
                </a:solidFill>
                <a:latin typeface="Calibri"/>
              </a:defRPr>
            </a:pPr>
            <a:r>
              <a:t>Premium AI tools — predictive scoring, fraud detection, API access. Subscription-based recurring revenue.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Launching 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57200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7091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4BA3F0"/>
                </a:solidFill>
                <a:latin typeface="Consolas"/>
              </a:defRPr>
            </a:pPr>
            <a:r>
              <a:t>HIGH-TOUCH —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937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Managed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7E8C"/>
                </a:solidFill>
                <a:latin typeface="Calibri"/>
              </a:defRPr>
            </a:pPr>
            <a:r>
              <a:t>Full-service affiliate program management for enterprise brands entering MENA.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C29D"/>
                </a:solidFill>
                <a:latin typeface="Consolas"/>
              </a:defRPr>
            </a:pPr>
            <a:r>
              <a:t>Select 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07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A $30 Billion Market.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MENA Is the Fastest-Growing Piece.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8E6EC"/>
                </a:solidFill>
                <a:latin typeface="Calibri"/>
              </a:defRPr>
            </a:pPr>
            <a:r>
              <a:t>Global affiliate marketing is projected to reach $30B by 2031. MENA's share is growing 25%+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474720" cy="164592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87E8C"/>
                </a:solidFill>
                <a:latin typeface="Consolas"/>
              </a:defRPr>
            </a:pPr>
            <a:r>
              <a:t>TOTAL ADDRESSABLE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C29D"/>
                </a:solidFill>
                <a:latin typeface="Consolas"/>
              </a:defRPr>
            </a:pPr>
            <a:r>
              <a:t>$30B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Global affiliate marketing by 2031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3C29D"/>
                </a:solidFill>
                <a:latin typeface="Consolas"/>
              </a:defRPr>
            </a:pPr>
            <a:r>
              <a:t>7.7% CAGR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017520"/>
            <a:ext cx="3474720" cy="164592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3108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87E8C"/>
                </a:solidFill>
                <a:latin typeface="Consolas"/>
              </a:defRPr>
            </a:pPr>
            <a:r>
              <a:t>SERVICEABLE ADDRESSABLE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C29D"/>
                </a:solidFill>
                <a:latin typeface="Consolas"/>
              </a:defRPr>
            </a:pPr>
            <a:r>
              <a:t>$1.5B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MENA performance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4206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3C29D"/>
                </a:solidFill>
                <a:latin typeface="Consolas"/>
              </a:defRPr>
            </a:pPr>
            <a:r>
              <a:t>25%+ YoY GROWTH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017520"/>
            <a:ext cx="3474720" cy="164592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108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3C29D"/>
                </a:solidFill>
                <a:latin typeface="Consolas"/>
              </a:defRPr>
            </a:pPr>
            <a:r>
              <a:t>SERVICEABLE OBTAINABLE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83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C29D"/>
                </a:solidFill>
                <a:latin typeface="Consolas"/>
              </a:defRPr>
            </a:pPr>
            <a:r>
              <a:t>$200M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931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3-year target (UAE + KSA + Egypt)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206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3C29D"/>
                </a:solidFill>
                <a:latin typeface="Consolas"/>
              </a:defRPr>
            </a:pPr>
            <a:r>
              <a:t>OUR BEACHHEAD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2560320" cy="12801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15% E-com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Fastest major region globally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5029200"/>
            <a:ext cx="2560320" cy="12801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6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400M+ Under 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806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Digital-native consumers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029200"/>
            <a:ext cx="2560320" cy="12801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&gt;90% Smartphones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806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GCC penetration 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5029200"/>
            <a:ext cx="2560320" cy="12801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5212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Vision 2030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5806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KSA e-commerce push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08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No One Owns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MENA Affiliate Marketing.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8E6EC"/>
                </a:solidFill>
                <a:latin typeface="Calibri"/>
              </a:defRPr>
            </a:pPr>
            <a:r>
              <a:t>The only question is whether the winner will be a MENA-native platform or a Western player adapting late.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200400"/>
          <a:ext cx="9235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188720"/>
                <a:gridCol w="1188720"/>
                <a:gridCol w="201168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63C29D"/>
                          </a:solidFill>
                          <a:latin typeface="Consolas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63C29D"/>
                          </a:solidFill>
                          <a:latin typeface="Consolas"/>
                        </a:defRPr>
                      </a:pPr>
                      <a:r>
                        <a:t>MENA Focus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63C29D"/>
                          </a:solidFill>
                          <a:latin typeface="Consolas"/>
                        </a:defRPr>
                      </a:pPr>
                      <a:r>
                        <a:t>AI/ML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63C29D"/>
                          </a:solidFill>
                          <a:latin typeface="Consolas"/>
                        </a:defRPr>
                      </a:pPr>
                      <a:r>
                        <a:t>Arabic First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63C29D"/>
                          </a:solidFill>
                          <a:latin typeface="Consolas"/>
                        </a:defRPr>
                      </a:pPr>
                      <a:r>
                        <a:t>Publisher Network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63C29D"/>
                          </a:solidFill>
                          <a:latin typeface="Consolas"/>
                        </a:defRPr>
                      </a:pPr>
                      <a:r>
                        <a:t>Fraud Detection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3C29D"/>
                          </a:solidFill>
                          <a:latin typeface="Calibri"/>
                        </a:defRPr>
                      </a:pPr>
                      <a:r>
                        <a:t>Perff AI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3C29D"/>
                          </a:solidFill>
                          <a:latin typeface="Calibri"/>
                        </a:defRPr>
                      </a:pPr>
                      <a:r>
                        <a:t>✅ 100%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3C29D"/>
                          </a:solidFill>
                          <a:latin typeface="Calibri"/>
                        </a:defRPr>
                      </a:pPr>
                      <a:r>
                        <a:t>✅ Core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3C29D"/>
                          </a:solidFill>
                          <a:latin typeface="Calibri"/>
                        </a:defRPr>
                      </a:pPr>
                      <a:r>
                        <a:t>✅ Yes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3C29D"/>
                          </a:solidFill>
                          <a:latin typeface="Calibri"/>
                        </a:defRPr>
                      </a:pPr>
                      <a:r>
                        <a:t>✅ 870+ MENA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3C29D"/>
                          </a:solidFill>
                          <a:latin typeface="Calibri"/>
                        </a:defRPr>
                      </a:pPr>
                      <a:r>
                        <a:t>✅ MENA-trained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CJ Affiliate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Minimal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Global, few MENA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Global only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Rakuten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Global focus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Not localized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Impact.com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Entering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✅ Strong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Growing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Global models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Awin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EU/US-focused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Not MENA-tuned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ArabyAds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Smaller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B151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Admitad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Some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Basic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❌ No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Global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D8E6EC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>
                    <a:solidFill>
                      <a:srgbClr val="0E1E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8E6EC"/>
                </a:solidFill>
                <a:latin typeface="Calibri"/>
              </a:defRPr>
            </a:pPr>
            <a:r>
              <a:t>OUR MOAT: 870+ MENA publishers · MENA-trained AI · Arabic-first platform · 50+ enterprise relationships · 250+ campaign dataset · Local payment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09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TECHNOLOGY &amp;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The AI Gets Smarter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With Every Campaign.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8E6EC"/>
                </a:solidFill>
                <a:latin typeface="Calibri"/>
              </a:defRPr>
            </a:pPr>
            <a:r>
              <a:t>Every campaign trains our models. Every publisher adds data. Every brand deepens our understanding. This creates a compounding advantage competitors would need years to replicate.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011680" cy="8229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🏢 More Brands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C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00400"/>
            <a:ext cx="2011680" cy="8229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📊 More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C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200400"/>
            <a:ext cx="2011680" cy="822960"/>
          </a:xfrm>
          <a:prstGeom prst="round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B1519"/>
                </a:solidFill>
                <a:latin typeface="Calibri"/>
              </a:defRPr>
            </a:pPr>
            <a:r>
              <a:t>🧠 Smarter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C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200400"/>
            <a:ext cx="2011680" cy="8229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📈 Better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3C29D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200400"/>
            <a:ext cx="2011680" cy="82296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📱 More Publishers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C29D"/>
                </a:solidFill>
                <a:latin typeface="Consolas"/>
              </a:defRPr>
            </a:pPr>
            <a:r>
              <a:t>AI — LIVE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✅ Fraud detection MVP (MENA-specific patterns)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✅ Predictive campaign scoring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✅ Automated performance reporting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✅ Budget optimization recommendations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✅ Publisher-brand matching algorithms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A54B"/>
                </a:solidFill>
                <a:latin typeface="Consolas"/>
              </a:defRPr>
            </a:pPr>
            <a:r>
              <a:t>AI — PLANNED (POST-INVESTMENT)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5720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🔨 Multi-layer fraud detection v2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🔨 Adaptive real-time budget allocation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🔨 Publisher recommendation engine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🔨 Self-serve brand dashboard with AI assistant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🔨 Open API for programmatic access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D8E6EC"/>
                </a:solidFill>
                <a:latin typeface="Calibri"/>
              </a:defRPr>
            </a:pPr>
            <a:r>
              <a:t>🔨 NLP-based Arabic content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10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EXPANSION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UAE → KSA → Egypt →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Pan-MENA.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8E6EC"/>
                </a:solidFill>
                <a:latin typeface="Calibri"/>
              </a:defRPr>
            </a:pPr>
            <a:r>
              <a:t>Proven playbook in UAE. Now expanding to the region's two largest markets — Saudi Arabia and Egypt.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C29D"/>
                </a:solidFill>
                <a:latin typeface="Consolas"/>
              </a:defRPr>
            </a:pPr>
            <a: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Foundation — UAE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2004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Founded in Abu Dhabi · First brand clients · 200+ publishers · ~$200K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C29D"/>
                </a:solidFill>
                <a:latin typeface="Consolas"/>
              </a:defRPr>
            </a:pPr>
            <a: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03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Growth — Enterprise Penetration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703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Signed noon, Talabat, DAMAC · Revenue 3× to $600K · 500+ publishers · Fraud detection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C29D"/>
                </a:solidFill>
                <a:latin typeface="Consolas"/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Scale — Market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206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Revenue 2× to $1.2M · 50+ enterprise brands · 620+ publishers · 17.5% market share (UAE/KSA)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C29D"/>
                </a:solidFill>
                <a:latin typeface="Consolas"/>
              </a:defRPr>
            </a:pPr>
            <a: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Investment — Pre-Seed 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709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$1.8M projected revenue · Self-serve dashboard · Begin KSA expansion · Raise $8M pre-seed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C29D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12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Expansion — KSA +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212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Riyadh office · Full AI platform launch · 1,500+ publishers · $3.5M revenue · API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C29D"/>
                </a:solidFill>
                <a:latin typeface="Consolas"/>
              </a:defRPr>
            </a:pPr>
            <a:r>
              <a:t>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Scale — Pan-MENA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715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Egypt launch · 2,000+ publishers · $8–9M revenue · SaaS revenue stream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11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Revenue 6× in 3 Years.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Self-Funded.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8E6EC"/>
                </a:solidFill>
                <a:latin typeface="Calibri"/>
              </a:defRPr>
            </a:pPr>
            <a:r>
              <a:t>Built to $1.8M revenue with zero outside cash. Capital-efficient founders who know how to do more with less.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1097280" cy="27432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$200K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4229100"/>
            <a:ext cx="1097280" cy="800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9547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$600K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657600"/>
            <a:ext cx="1097280" cy="13716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$1.2M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314700"/>
            <a:ext cx="1097280" cy="1714500"/>
          </a:xfrm>
          <a:prstGeom prst="rect">
            <a:avLst/>
          </a:prstGeom>
          <a:solidFill>
            <a:srgbClr val="2A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0403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$1.8M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2025E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3017520"/>
            <a:ext cx="1097280" cy="2011680"/>
          </a:xfrm>
          <a:prstGeom prst="rect">
            <a:avLst/>
          </a:prstGeom>
          <a:solidFill>
            <a:srgbClr val="2A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39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$3.5M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2026P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743200"/>
            <a:ext cx="1097280" cy="2286000"/>
          </a:xfrm>
          <a:prstGeom prst="rect">
            <a:avLst/>
          </a:prstGeom>
          <a:solidFill>
            <a:srgbClr val="2A5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468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$8–9M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074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2027P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3474720" cy="10058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C29D"/>
                </a:solidFill>
                <a:latin typeface="Consolas"/>
              </a:defRPr>
            </a:pPr>
            <a:r>
              <a:t>20–35%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7E8C"/>
                </a:solidFill>
                <a:latin typeface="Calibri"/>
              </a:defRPr>
            </a:pPr>
            <a:r>
              <a:t>Performance margin, growing with 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5486400"/>
            <a:ext cx="3474720" cy="10058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19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 Revenue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C29D"/>
                </a:solidFill>
                <a:latin typeface="Consolas"/>
              </a:defRPr>
            </a:pPr>
            <a:r>
              <a:t>~120%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7E8C"/>
                </a:solidFill>
                <a:latin typeface="Calibri"/>
              </a:defRPr>
            </a:pPr>
            <a:r>
              <a:t>Existing clients increase spend YoY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486400"/>
            <a:ext cx="3474720" cy="10058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Revenue per Employee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C29D"/>
                </a:solidFill>
                <a:latin typeface="Consolas"/>
              </a:defRPr>
            </a:pPr>
            <a:r>
              <a:t>$200K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6080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87E8C"/>
                </a:solidFill>
                <a:latin typeface="Calibri"/>
              </a:defRPr>
            </a:pPr>
            <a:r>
              <a:t>$1.8M revenue ÷ 9 team members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12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Built by MENA Insiders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Who Know This Market.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8E6EC"/>
                </a:solidFill>
                <a:latin typeface="Calibri"/>
              </a:defRPr>
            </a:pPr>
            <a:r>
              <a:t>10+ years of MENA performance marketing experience. A previous exit. Deep brand relationships.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3566160" cy="24688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356616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548640" cy="548640"/>
          </a:xfrm>
          <a:prstGeom prst="round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519"/>
                </a:solidFill>
                <a:latin typeface="Calibri"/>
              </a:defRPr>
            </a:pPr>
            <a:r>
              <a:t>RH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Rima Hani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C29D"/>
                </a:solidFill>
                <a:latin typeface="Calibri"/>
              </a:defRPr>
            </a:pPr>
            <a:r>
              <a:t>Co-Founder &amp;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8E6EC"/>
                </a:solidFill>
                <a:latin typeface="Calibri"/>
              </a:defRPr>
            </a:pPr>
            <a:r>
              <a:t>10+ years leading performance marketing across MENA. Built and scaled affiliate programs for the region's largest brands.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Ex-Equiti · Ex-DigiZag · Abu Dhabi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651760"/>
            <a:ext cx="3566160" cy="24688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651760"/>
            <a:ext cx="356616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80560" y="2834640"/>
            <a:ext cx="548640" cy="548640"/>
          </a:xfrm>
          <a:prstGeom prst="round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519"/>
                </a:solidFill>
                <a:latin typeface="Calibri"/>
              </a:defRPr>
            </a:pPr>
            <a:r>
              <a:t>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Fahad Alsaedi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108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C29D"/>
                </a:solidFill>
                <a:latin typeface="Calibri"/>
              </a:defRPr>
            </a:pPr>
            <a:r>
              <a:t>Co-Founder &amp; 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74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8E6EC"/>
                </a:solidFill>
                <a:latin typeface="Calibri"/>
              </a:defRPr>
            </a:pPr>
            <a:r>
              <a:t>Serial technical founder with a previous exit. Former engineering lead at Nana (nana.sa). Deep expertise in scalable platforms &amp; AI/ML.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1× Exit · Ex-Nana · MBIT · Saudi Arabia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651760"/>
            <a:ext cx="3566160" cy="24688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2651760"/>
            <a:ext cx="356616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40" y="2834640"/>
            <a:ext cx="548640" cy="548640"/>
          </a:xfrm>
          <a:prstGeom prst="round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519"/>
                </a:solidFill>
                <a:latin typeface="Calibri"/>
              </a:defRPr>
            </a:pPr>
            <a:r>
              <a:t>SC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Sadah Chanti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1089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C29D"/>
                </a:solidFill>
                <a:latin typeface="Calibri"/>
              </a:defRPr>
            </a:pPr>
            <a:r>
              <a:t>Co-Founder &amp; COO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4747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8E6EC"/>
                </a:solidFill>
                <a:latin typeface="Calibri"/>
              </a:defRPr>
            </a:pPr>
            <a:r>
              <a:t>Bilingual Regional Head of Communications with 17+ years leading high-performing teams across content, video, and account management.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17+ Years · Communications · Riyadh, KSA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5303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587E8C"/>
                </a:solidFill>
                <a:latin typeface="Consolas"/>
              </a:defRPr>
            </a:pPr>
            <a:r>
              <a:t>CORE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Amer Kilani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06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C29D"/>
                </a:solidFill>
                <a:latin typeface="Calibri"/>
              </a:defRPr>
            </a:pPr>
            <a:r>
              <a:t>General 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📍 Amman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Abeer Hani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5806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C29D"/>
                </a:solidFill>
                <a:latin typeface="Calibri"/>
              </a:defRPr>
            </a:pPr>
            <a:r>
              <a:t>Head of Communications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📍 Riyadh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Fairouz Hamdan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806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C29D"/>
                </a:solidFill>
                <a:latin typeface="Calibri"/>
              </a:defRPr>
            </a:pPr>
            <a:r>
              <a:t>Social Media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📍 Amman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Samer Baibers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79" y="5806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C29D"/>
                </a:solidFill>
                <a:latin typeface="Calibri"/>
              </a:defRPr>
            </a:pPr>
            <a:r>
              <a:t>Sr. Affiliate Manager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79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📍 Amman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Mohammed Alshaikh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806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C29D"/>
                </a:solidFill>
                <a:latin typeface="Calibri"/>
              </a:defRPr>
            </a:pPr>
            <a:r>
              <a:t>Sr. Affiliate 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📍 Gaza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Lilian Alfar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58064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C29D"/>
                </a:solidFill>
                <a:latin typeface="Calibri"/>
              </a:defRPr>
            </a:pPr>
            <a:r>
              <a:t>Sr. Affiliate Account Exec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000" y="5943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87E8C"/>
                </a:solidFill>
                <a:latin typeface="Calibri"/>
              </a:defRPr>
            </a:pPr>
            <a:r>
              <a:t>📍 Amman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13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$8,000,000 Pre-Seed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to Build the Category.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8E6EC"/>
                </a:solidFill>
                <a:latin typeface="Calibri"/>
              </a:defRPr>
            </a:pPr>
            <a:r>
              <a:t>We're raising $8M to build the definitive AI-powered affiliate marketing platform for MENA — before the window closes.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3063240"/>
            <a:ext cx="182880" cy="182880"/>
          </a:xfrm>
          <a:prstGeom prst="ellipse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8E6EC"/>
                </a:solidFill>
                <a:latin typeface="Calibri"/>
              </a:defRPr>
            </a:pPr>
            <a:r>
              <a:t>AI Development — ML Engineers, Infrastructure,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40% · $3.2M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3611880"/>
            <a:ext cx="182880" cy="182880"/>
          </a:xfrm>
          <a:prstGeom prst="ellipse">
            <a:avLst/>
          </a:prstGeom>
          <a:solidFill>
            <a:srgbClr val="4BA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8E6EC"/>
                </a:solidFill>
                <a:latin typeface="Calibri"/>
              </a:defRPr>
            </a:pPr>
            <a:r>
              <a:t>Regional Expansion — KSA (Riyadh), Egypt (Cairo), Sales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35% · $2.8M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0" y="4160520"/>
            <a:ext cx="182880" cy="182880"/>
          </a:xfrm>
          <a:prstGeom prst="ellipse">
            <a:avLst/>
          </a:prstGeom>
          <a:solidFill>
            <a:srgbClr val="F0A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4114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8E6EC"/>
                </a:solidFill>
                <a:latin typeface="Calibri"/>
              </a:defRPr>
            </a:pPr>
            <a:r>
              <a:t>Marketing &amp; Growth — Brand Acquisition, Publisher Growth,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C29D"/>
                </a:solidFill>
                <a:latin typeface="Consolas"/>
              </a:defRPr>
            </a:pPr>
            <a:r>
              <a:t>25% · $2.0M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53035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C29D"/>
                </a:solidFill>
                <a:latin typeface="Consolas"/>
              </a:defRPr>
            </a:pPr>
            <a:r>
              <a:t>12-MONTH MILESTONES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Full Perff AI platform GA launch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3 ML engineers hired and shipping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KSA market entry — Riyadh office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1,500+ publisher network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Self-serve brand dashboard live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$4M+ revenue run 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572000"/>
            <a:ext cx="5303520" cy="201168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6634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C29D"/>
                </a:solidFill>
                <a:latin typeface="Consolas"/>
              </a:defRPr>
            </a:pPr>
            <a:r>
              <a:t>24-MONTH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37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Egypt market entry — Cairo office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2,000+ publisher network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Full AI stack deployed (fraud v2, scoring, API)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SaaS revenue stream live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$8–9M revenue run rate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D8E6EC"/>
                </a:solidFill>
                <a:latin typeface="Calibri"/>
              </a:defRPr>
            </a:pPr>
            <a:r>
              <a:t>✅ Series A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14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Window Is</a:t>
            </a:r>
            <a:r>
              <a:t>
</a:t>
            </a:r>
            <a:r>
              <a:rPr sz="4000" b="1">
                <a:solidFill>
                  <a:srgbClr val="63C29D"/>
                </a:solidFill>
                <a:latin typeface="Calibri"/>
              </a:rPr>
              <a:t>18–24 Months.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8E6EC"/>
                </a:solidFill>
                <a:latin typeface="Calibri"/>
              </a:defRPr>
            </a:pPr>
            <a:r>
              <a:t>Five macro forces are converging to create a once-in-a-decade opportunity in MENA affiliate marketing.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E-Commerce Boom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MENA e-commerce growing 15% YoY. $50B+ market. Every brand needs efficient acquisition.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20040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320040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3383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Vision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19" y="3977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Saudi Arabia investing billions in digital infrastructure. New e-commerce brands launching monthly.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20040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20040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383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703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Inflection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977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Gen-AI and ML tools now accessible. Our 250+ campaign dataset gives us a head start.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6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9496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CAC Crisis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172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Facebook/Google CPAs rising 30%+ YoY in MENA. Brands seeking performance alternatives.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539496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59" y="539496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19" y="5577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19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 Incumbent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6172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No dominant affiliate platform in MENA. Western players haven't localized.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5394960"/>
            <a:ext cx="3474720" cy="192024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539496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5577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897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First-Mover Window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6172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87E8C"/>
                </a:solidFill>
                <a:latin typeface="Calibri"/>
              </a:defRPr>
            </a:pPr>
            <a:r>
              <a:t>International platforms will enter MENA within 18–24 months. We must lead now.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87E8C"/>
                </a:solidFill>
                <a:latin typeface="Consolas"/>
              </a:defRPr>
            </a:pPr>
            <a:r>
              <a:t>15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C29D"/>
                </a:solidFill>
                <a:latin typeface="Consolas"/>
              </a:defRPr>
            </a:pPr>
            <a:r>
              <a:t>LET'S BUILD THE FUTURE OF MENA PERFORMANCE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Turn MENA's Ad Spend Into
</a:t>
            </a:r>
            <a:r>
              <a:rPr sz="4800" b="1">
                <a:solidFill>
                  <a:srgbClr val="63C29D"/>
                </a:solidFill>
                <a:latin typeface="Calibri"/>
              </a:rPr>
              <a:t>Measurable Growth.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200400"/>
            <a:ext cx="1645920" cy="91440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3246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474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C29D"/>
                </a:solidFill>
                <a:latin typeface="Consolas"/>
              </a:defRPr>
            </a:pPr>
            <a:r>
              <a:t>$8M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200400"/>
            <a:ext cx="1645920" cy="91440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3246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474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C29D"/>
                </a:solidFill>
                <a:latin typeface="Consolas"/>
              </a:defRPr>
            </a:pPr>
            <a:r>
              <a:t>$1.8M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00400"/>
            <a:ext cx="1645920" cy="91440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246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C29D"/>
                </a:solidFill>
                <a:latin typeface="Consolas"/>
              </a:defRPr>
            </a:pPr>
            <a:r>
              <a:t>50+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200400"/>
            <a:ext cx="1645920" cy="91440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Publishers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74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C29D"/>
                </a:solidFill>
                <a:latin typeface="Consolas"/>
              </a:defRPr>
            </a:pPr>
            <a:r>
              <a:t>870+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389120"/>
            <a:ext cx="4572000" cy="1645920"/>
          </a:xfrm>
          <a:prstGeom prst="roundRect">
            <a:avLst/>
          </a:prstGeom>
          <a:solidFill>
            <a:srgbClr val="0E1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Rima Hani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80060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C29D"/>
                </a:solidFill>
                <a:latin typeface="Calibri"/>
              </a:defRPr>
            </a:pPr>
            <a:r>
              <a:t>Co-Founder &amp; CEO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2920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87E8C"/>
                </a:solidFill>
                <a:latin typeface="Calibri"/>
              </a:defRPr>
            </a:pPr>
            <a:r>
              <a:t>rima.hani@globalnetwork.global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035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87E8C"/>
                </a:solidFill>
                <a:latin typeface="Calibri"/>
              </a:defRPr>
            </a:pPr>
            <a:r>
              <a:t>perff.net</a:t>
            </a:r>
            <a:br/>
            <a:r>
              <a:t>USA (HQ) · Abu Dhabi, UAE · Amman, Jordan · Riyadh, KSA · Gaza, Palestine</a:t>
            </a:r>
            <a:br/>
            <a:r>
              <a:t>UAE: +971 506856839 · Jordan: +962 796314887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217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87E8C"/>
                </a:solidFill>
                <a:latin typeface="Calibri"/>
              </a:defRPr>
            </a:pPr>
            <a:r>
              <a:t>© 2026 Perff AI (Perff Inc.). Confidential &amp; Proprietary.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87E8C"/>
                </a:solidFill>
                <a:latin typeface="Consolas"/>
              </a:defRPr>
            </a:pPr>
            <a:r>
              <a:t>CONFIDENTIAL — Perff AI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