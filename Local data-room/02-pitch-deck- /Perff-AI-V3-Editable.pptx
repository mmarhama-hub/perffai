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3" roundtripDataSignature="AMtx7mjCos4Eb3nNEpXn8VzxvQduptie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F518142-43E7-401E-8973-750EC456E051}">
  <a:tblStyle styleId="{EF518142-43E7-401E-8973-750EC456E05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c89500531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c89500531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51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01 / 15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1371600" y="690073"/>
            <a:ext cx="5486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PRE-SEED Perff .inc 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731520" y="1055833"/>
            <a:ext cx="10698600" cy="18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MENA Spends Billions on Ads.</a:t>
            </a:r>
            <a:b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800" u="none" cap="none" strike="noStrike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Almost None of It Is Performance-Based.</a:t>
            </a:r>
            <a:endParaRPr b="1" i="0" sz="3800" u="none" cap="none" strike="noStrike">
              <a:solidFill>
                <a:srgbClr val="63C29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We fix that.</a:t>
            </a:r>
            <a:endParaRPr b="1" sz="3500">
              <a:solidFill>
                <a:srgbClr val="63C29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1828800" y="2775247"/>
            <a:ext cx="8229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The region's e-commerce market grows 15% annually — faster than any major market — yet captures barely 2% of the $18B global affiliate marketing industry. That gap is our opportunity.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371600" y="3722975"/>
            <a:ext cx="164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15%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371600" y="4134455"/>
            <a:ext cx="1645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MENA E-com Growth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1371600" y="4363055"/>
            <a:ext cx="1645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FASTEST GLOBALLY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3840480" y="3722975"/>
            <a:ext cx="164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2%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3840480" y="4134455"/>
            <a:ext cx="1645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Affiliate Capture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3840480" y="4363055"/>
            <a:ext cx="1645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VS 15% IN WEST</a:t>
            </a:r>
            <a:endParaRPr/>
          </a:p>
        </p:txBody>
      </p:sp>
      <p:sp>
        <p:nvSpPr>
          <p:cNvPr id="94" name="Google Shape;94;p1"/>
          <p:cNvSpPr txBox="1"/>
          <p:nvPr/>
        </p:nvSpPr>
        <p:spPr>
          <a:xfrm>
            <a:off x="6309360" y="3722975"/>
            <a:ext cx="164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$1.5B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6309360" y="4134455"/>
            <a:ext cx="1645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MENA SAM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6309360" y="4363055"/>
            <a:ext cx="1645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GROWING 25%+ YoY</a:t>
            </a:r>
            <a:endParaRPr/>
          </a:p>
        </p:txBody>
      </p:sp>
      <p:sp>
        <p:nvSpPr>
          <p:cNvPr id="97" name="Google Shape;97;p1"/>
          <p:cNvSpPr txBox="1"/>
          <p:nvPr/>
        </p:nvSpPr>
        <p:spPr>
          <a:xfrm>
            <a:off x="8778240" y="3722975"/>
            <a:ext cx="164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335×</a:t>
            </a:r>
            <a:endParaRPr/>
          </a:p>
        </p:txBody>
      </p:sp>
      <p:sp>
        <p:nvSpPr>
          <p:cNvPr id="98" name="Google Shape;98;p1"/>
          <p:cNvSpPr txBox="1"/>
          <p:nvPr/>
        </p:nvSpPr>
        <p:spPr>
          <a:xfrm>
            <a:off x="8778240" y="4134455"/>
            <a:ext cx="1645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CAC Premium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8778240" y="4363055"/>
            <a:ext cx="16458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VS AFFILIATE CHANNEL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CONFIDENTIAL — Perff AI ©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519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02 / 15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WHAT WE DO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731520" y="1097280"/>
            <a:ext cx="10058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Shopify of Affiliate Marketing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00" u="none" cap="none" strike="noStrike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for the Middle East.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Perff AI is an AI-powered platform connecting brands with affiliate publishers — automating campaign matching, fraud detection, and performance optimization so brands pay only for real results.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731520" y="347472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🏢 Brand  →  🧠 Perff AI  →  📱 Publisher  →  👤 Customer  →  💰 Everyone Paid</a:t>
            </a:r>
            <a:endParaRPr/>
          </a:p>
        </p:txBody>
      </p:sp>
      <p:sp>
        <p:nvSpPr>
          <p:cNvPr id="110" name="Google Shape;110;p2"/>
          <p:cNvSpPr/>
          <p:nvPr/>
        </p:nvSpPr>
        <p:spPr>
          <a:xfrm>
            <a:off x="731520" y="4206240"/>
            <a:ext cx="3474720" cy="201168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2"/>
          <p:cNvSpPr/>
          <p:nvPr/>
        </p:nvSpPr>
        <p:spPr>
          <a:xfrm>
            <a:off x="731520" y="4206240"/>
            <a:ext cx="3474720" cy="38100"/>
          </a:xfrm>
          <a:prstGeom prst="rect">
            <a:avLst/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2"/>
          <p:cNvSpPr txBox="1"/>
          <p:nvPr/>
        </p:nvSpPr>
        <p:spPr>
          <a:xfrm>
            <a:off x="868680" y="43891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868680" y="47091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AI-Powered Matching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868680" y="49834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Automatically connects brands with highest-performing publishers</a:t>
            </a:r>
            <a:endParaRPr/>
          </a:p>
        </p:txBody>
      </p:sp>
      <p:sp>
        <p:nvSpPr>
          <p:cNvPr id="115" name="Google Shape;115;p2"/>
          <p:cNvSpPr/>
          <p:nvPr/>
        </p:nvSpPr>
        <p:spPr>
          <a:xfrm>
            <a:off x="4480559" y="4206240"/>
            <a:ext cx="3474720" cy="201168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2"/>
          <p:cNvSpPr/>
          <p:nvPr/>
        </p:nvSpPr>
        <p:spPr>
          <a:xfrm>
            <a:off x="4480559" y="4206240"/>
            <a:ext cx="3474720" cy="38100"/>
          </a:xfrm>
          <a:prstGeom prst="rect">
            <a:avLst/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4617719" y="43891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🛡️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4617719" y="47091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Fraud Detection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4617719" y="49834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Multi-layer protection against VPN masking, click farms, bot traffic</a:t>
            </a:r>
            <a:endParaRPr/>
          </a:p>
        </p:txBody>
      </p:sp>
      <p:sp>
        <p:nvSpPr>
          <p:cNvPr id="120" name="Google Shape;120;p2"/>
          <p:cNvSpPr/>
          <p:nvPr/>
        </p:nvSpPr>
        <p:spPr>
          <a:xfrm>
            <a:off x="8229600" y="4206240"/>
            <a:ext cx="3474720" cy="201168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"/>
          <p:cNvSpPr/>
          <p:nvPr/>
        </p:nvSpPr>
        <p:spPr>
          <a:xfrm>
            <a:off x="8229600" y="4206240"/>
            <a:ext cx="3474720" cy="38100"/>
          </a:xfrm>
          <a:prstGeom prst="rect">
            <a:avLst/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8366760" y="438912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/>
          </a:p>
        </p:txBody>
      </p:sp>
      <p:sp>
        <p:nvSpPr>
          <p:cNvPr id="123" name="Google Shape;123;p2"/>
          <p:cNvSpPr txBox="1"/>
          <p:nvPr/>
        </p:nvSpPr>
        <p:spPr>
          <a:xfrm>
            <a:off x="8366760" y="47091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Optimization</a:t>
            </a:r>
            <a:endParaRPr/>
          </a:p>
        </p:txBody>
      </p:sp>
      <p:sp>
        <p:nvSpPr>
          <p:cNvPr id="124" name="Google Shape;124;p2"/>
          <p:cNvSpPr txBox="1"/>
          <p:nvPr/>
        </p:nvSpPr>
        <p:spPr>
          <a:xfrm>
            <a:off x="8366760" y="49834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Predictive campaign scoring, automated budget reallocation</a:t>
            </a:r>
            <a:endParaRPr/>
          </a:p>
        </p:txBody>
      </p:sp>
      <p:sp>
        <p:nvSpPr>
          <p:cNvPr id="125" name="Google Shape;125;p2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CONFIDENTIAL — Perff AI © 2026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519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03 / 15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1371600" y="548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PROOF — TRACTION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731520" y="914400"/>
            <a:ext cx="10698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50+ Enterprise Brands.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000" u="none" cap="none" strike="noStrike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$50M+ in Sales Driven.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2286000" y="22860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Real revenue, real clients, real results. Not a concept — a proven business growing 35% year-over-year.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457200" y="29260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870+</a:t>
            </a:r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457200" y="333756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Publishers</a:t>
            </a:r>
            <a:endParaRPr/>
          </a:p>
        </p:txBody>
      </p:sp>
      <p:sp>
        <p:nvSpPr>
          <p:cNvPr id="136" name="Google Shape;136;p3"/>
          <p:cNvSpPr txBox="1"/>
          <p:nvPr/>
        </p:nvSpPr>
        <p:spPr>
          <a:xfrm>
            <a:off x="457200" y="356616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LARGEST IN MENA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2377440" y="29260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$50M+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2377440" y="333756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Sales Driven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2377440" y="356616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FOR BRANDS</a:t>
            </a:r>
            <a:endParaRPr/>
          </a:p>
        </p:txBody>
      </p:sp>
      <p:sp>
        <p:nvSpPr>
          <p:cNvPr id="140" name="Google Shape;140;p3"/>
          <p:cNvSpPr txBox="1"/>
          <p:nvPr/>
        </p:nvSpPr>
        <p:spPr>
          <a:xfrm>
            <a:off x="4297680" y="29260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8.2%</a:t>
            </a:r>
            <a:endParaRPr/>
          </a:p>
        </p:txBody>
      </p:sp>
      <p:sp>
        <p:nvSpPr>
          <p:cNvPr id="141" name="Google Shape;141;p3"/>
          <p:cNvSpPr txBox="1"/>
          <p:nvPr/>
        </p:nvSpPr>
        <p:spPr>
          <a:xfrm>
            <a:off x="4297680" y="333756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Conversion Rate</a:t>
            </a:r>
            <a:endParaRPr/>
          </a:p>
        </p:txBody>
      </p:sp>
      <p:sp>
        <p:nvSpPr>
          <p:cNvPr id="142" name="Google Shape;142;p3"/>
          <p:cNvSpPr txBox="1"/>
          <p:nvPr/>
        </p:nvSpPr>
        <p:spPr>
          <a:xfrm>
            <a:off x="4297680" y="356616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3–8× INDUSTRY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6217920" y="29260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87%</a:t>
            </a:r>
            <a:endParaRPr/>
          </a:p>
        </p:txBody>
      </p:sp>
      <p:sp>
        <p:nvSpPr>
          <p:cNvPr id="144" name="Google Shape;144;p3"/>
          <p:cNvSpPr txBox="1"/>
          <p:nvPr/>
        </p:nvSpPr>
        <p:spPr>
          <a:xfrm>
            <a:off x="6217920" y="333756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Retention</a:t>
            </a:r>
            <a:endParaRPr/>
          </a:p>
        </p:txBody>
      </p:sp>
      <p:sp>
        <p:nvSpPr>
          <p:cNvPr id="145" name="Google Shape;145;p3"/>
          <p:cNvSpPr txBox="1"/>
          <p:nvPr/>
        </p:nvSpPr>
        <p:spPr>
          <a:xfrm>
            <a:off x="6217920" y="356616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+20pts ABOVE AVG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8138160" y="29260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35%</a:t>
            </a:r>
            <a:endParaRPr/>
          </a:p>
        </p:txBody>
      </p:sp>
      <p:sp>
        <p:nvSpPr>
          <p:cNvPr id="147" name="Google Shape;147;p3"/>
          <p:cNvSpPr txBox="1"/>
          <p:nvPr/>
        </p:nvSpPr>
        <p:spPr>
          <a:xfrm>
            <a:off x="8138160" y="333756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YoY Growth</a:t>
            </a:r>
            <a:endParaRPr/>
          </a:p>
        </p:txBody>
      </p:sp>
      <p:sp>
        <p:nvSpPr>
          <p:cNvPr id="148" name="Google Shape;148;p3"/>
          <p:cNvSpPr txBox="1"/>
          <p:nvPr/>
        </p:nvSpPr>
        <p:spPr>
          <a:xfrm>
            <a:off x="8138160" y="356616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2.5× MARKET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10058400" y="29260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1.2M+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10058400" y="3337560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Qualified Leads</a:t>
            </a:r>
            <a:endParaRPr/>
          </a:p>
        </p:txBody>
      </p:sp>
      <p:sp>
        <p:nvSpPr>
          <p:cNvPr id="151" name="Google Shape;151;p3"/>
          <p:cNvSpPr txBox="1"/>
          <p:nvPr/>
        </p:nvSpPr>
        <p:spPr>
          <a:xfrm>
            <a:off x="10058400" y="356616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00" u="none" cap="none" strike="noStrike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GENERATED</a:t>
            </a:r>
            <a:endParaRPr/>
          </a:p>
        </p:txBody>
      </p:sp>
      <p:sp>
        <p:nvSpPr>
          <p:cNvPr id="152" name="Google Shape;152;p3"/>
          <p:cNvSpPr txBox="1"/>
          <p:nvPr/>
        </p:nvSpPr>
        <p:spPr>
          <a:xfrm>
            <a:off x="731520" y="4389120"/>
            <a:ext cx="1069848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Trusted by MENA's leading brands across 9 verticals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noon · Talabat · NAMSHI · DAMAC · Trendyol · OSN · StarzPlay · HYCM · Evest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eyewa · Homzmart · 6thStreet · OUNASS · SIVVI · Mumzworld · Level Shoes · NBA Store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Calo · DailyMealz · MultiBank · hummel · Courir · Go Sport · Nice One · Temu · Styli</a:t>
            </a:r>
            <a:endParaRPr/>
          </a:p>
        </p:txBody>
      </p:sp>
      <p:sp>
        <p:nvSpPr>
          <p:cNvPr id="153" name="Google Shape;153;p3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CONFIDENTIAL — Perff AI © 2026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519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04 / 15</a:t>
            </a:r>
            <a:endParaRPr/>
          </a:p>
        </p:txBody>
      </p:sp>
      <p:sp>
        <p:nvSpPr>
          <p:cNvPr id="159" name="Google Shape;159;p4"/>
          <p:cNvSpPr txBox="1"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THE PROBLEM</a:t>
            </a:r>
            <a:endParaRPr/>
          </a:p>
        </p:txBody>
      </p:sp>
      <p:sp>
        <p:nvSpPr>
          <p:cNvPr id="160" name="Google Shape;160;p4"/>
          <p:cNvSpPr txBox="1"/>
          <p:nvPr/>
        </p:nvSpPr>
        <p:spPr>
          <a:xfrm>
            <a:off x="731520" y="1097280"/>
            <a:ext cx="10058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15% E-Commerce Growth.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40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2% Affiliate Capture.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MENA's digital economy is booming but the performance marketing infrastructure is broken — or simply doesn't exist.</a:t>
            </a:r>
            <a:endParaRPr/>
          </a:p>
        </p:txBody>
      </p:sp>
      <p:sp>
        <p:nvSpPr>
          <p:cNvPr id="162" name="Google Shape;162;p4"/>
          <p:cNvSpPr txBox="1"/>
          <p:nvPr/>
        </p:nvSpPr>
        <p:spPr>
          <a:xfrm>
            <a:off x="731520" y="32918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E8515E"/>
                </a:solidFill>
                <a:latin typeface="Consolas"/>
                <a:ea typeface="Consolas"/>
                <a:cs typeface="Consolas"/>
                <a:sym typeface="Consolas"/>
              </a:rPr>
              <a:t>🏢  FOR BRANDS</a:t>
            </a:r>
            <a:endParaRPr/>
          </a:p>
        </p:txBody>
      </p:sp>
      <p:sp>
        <p:nvSpPr>
          <p:cNvPr id="163" name="Google Shape;163;p4"/>
          <p:cNvSpPr txBox="1"/>
          <p:nvPr/>
        </p:nvSpPr>
        <p:spPr>
          <a:xfrm>
            <a:off x="731520" y="365760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❌ 80% of MENA brands have zero affiliate programs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❌ CAC 335× higher than affiliate benchmarks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❌ No reliable platform to find publishers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❌ Fraud rates 3–5× global average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❌ Manual tracking via spreadsheets &amp; WhatsApp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❌ No Arabic-language optimization tools</a:t>
            </a:r>
            <a:endParaRPr/>
          </a:p>
        </p:txBody>
      </p:sp>
      <p:sp>
        <p:nvSpPr>
          <p:cNvPr id="164" name="Google Shape;164;p4"/>
          <p:cNvSpPr txBox="1"/>
          <p:nvPr/>
        </p:nvSpPr>
        <p:spPr>
          <a:xfrm>
            <a:off x="6400800" y="32918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E8515E"/>
                </a:solidFill>
                <a:latin typeface="Consolas"/>
                <a:ea typeface="Consolas"/>
                <a:cs typeface="Consolas"/>
                <a:sym typeface="Consolas"/>
              </a:rPr>
              <a:t>📱  FOR PUBLISHERS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>
          <a:xfrm>
            <a:off x="6400800" y="365760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❌ Zero reliable MENA-native platforms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❌ Payment delays of 60–120 days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❌ No data transparency or optimization tools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❌ Western tools ignore Arabic content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❌ No local payment rail support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❌ Fragmented market — no single platform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1371600" y="603504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E8515E"/>
                </a:solidFill>
                <a:latin typeface="Calibri"/>
                <a:ea typeface="Calibri"/>
                <a:cs typeface="Calibri"/>
                <a:sym typeface="Calibri"/>
              </a:rPr>
              <a:t>THE RESULT: Billions in ad spend → Unmeasurable ROI → Brands overpay → Publishers underearned → Market stays underdeveloped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CONFIDENTIAL — Perff AI © 2026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519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"/>
          <p:cNvSpPr txBox="1"/>
          <p:nvPr/>
        </p:nvSpPr>
        <p:spPr>
          <a:xfrm>
            <a:off x="10789920" y="48569"/>
            <a:ext cx="1097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05 / 15</a:t>
            </a:r>
            <a:endParaRPr/>
          </a:p>
        </p:txBody>
      </p:sp>
      <p:sp>
        <p:nvSpPr>
          <p:cNvPr id="173" name="Google Shape;173;p5"/>
          <p:cNvSpPr txBox="1"/>
          <p:nvPr/>
        </p:nvSpPr>
        <p:spPr>
          <a:xfrm>
            <a:off x="731520" y="409628"/>
            <a:ext cx="5486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THE SOLUTION</a:t>
            </a:r>
            <a:endParaRPr/>
          </a:p>
        </p:txBody>
      </p:sp>
      <p:sp>
        <p:nvSpPr>
          <p:cNvPr id="174" name="Google Shape;174;p5"/>
          <p:cNvSpPr txBox="1"/>
          <p:nvPr/>
        </p:nvSpPr>
        <p:spPr>
          <a:xfrm>
            <a:off x="731520" y="775388"/>
            <a:ext cx="10058400" cy="13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Platform.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40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Complete Affiliate Ecosystem.</a:t>
            </a:r>
            <a:endParaRPr/>
          </a:p>
        </p:txBody>
      </p:sp>
      <p:sp>
        <p:nvSpPr>
          <p:cNvPr id="175" name="Google Shape;175;p5"/>
          <p:cNvSpPr txBox="1"/>
          <p:nvPr/>
        </p:nvSpPr>
        <p:spPr>
          <a:xfrm>
            <a:off x="731520" y="2238428"/>
            <a:ext cx="7315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Perff AI replaces spreadsheets, WhatsApp groups, and manual tracking with an AI-powered platform that automates the entire affiliate lifecycle.</a:t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731520" y="2969948"/>
            <a:ext cx="3474600" cy="201180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731520" y="2969948"/>
            <a:ext cx="3474600" cy="38100"/>
          </a:xfrm>
          <a:prstGeom prst="rect">
            <a:avLst/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 txBox="1"/>
          <p:nvPr/>
        </p:nvSpPr>
        <p:spPr>
          <a:xfrm>
            <a:off x="868680" y="3152828"/>
            <a:ext cx="45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/>
          </a:p>
        </p:txBody>
      </p:sp>
      <p:sp>
        <p:nvSpPr>
          <p:cNvPr id="179" name="Google Shape;179;p5"/>
          <p:cNvSpPr txBox="1"/>
          <p:nvPr/>
        </p:nvSpPr>
        <p:spPr>
          <a:xfrm>
            <a:off x="868680" y="3472868"/>
            <a:ext cx="320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Publisher Matching</a:t>
            </a:r>
            <a:endParaRPr/>
          </a:p>
        </p:txBody>
      </p:sp>
      <p:sp>
        <p:nvSpPr>
          <p:cNvPr id="180" name="Google Shape;180;p5"/>
          <p:cNvSpPr txBox="1"/>
          <p:nvPr/>
        </p:nvSpPr>
        <p:spPr>
          <a:xfrm>
            <a:off x="868680" y="3747188"/>
            <a:ext cx="32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ML analyzes publisher audiences and performance for optimal pairings</a:t>
            </a:r>
            <a:endParaRPr/>
          </a:p>
        </p:txBody>
      </p:sp>
      <p:sp>
        <p:nvSpPr>
          <p:cNvPr id="181" name="Google Shape;181;p5"/>
          <p:cNvSpPr txBox="1"/>
          <p:nvPr/>
        </p:nvSpPr>
        <p:spPr>
          <a:xfrm>
            <a:off x="868680" y="4250108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8.2% CVR</a:t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4480559" y="2969948"/>
            <a:ext cx="3474600" cy="201180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4480559" y="2969948"/>
            <a:ext cx="3474600" cy="38100"/>
          </a:xfrm>
          <a:prstGeom prst="rect">
            <a:avLst/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4617719" y="3152828"/>
            <a:ext cx="45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🛡️</a:t>
            </a:r>
            <a:endParaRPr/>
          </a:p>
        </p:txBody>
      </p:sp>
      <p:sp>
        <p:nvSpPr>
          <p:cNvPr id="185" name="Google Shape;185;p5"/>
          <p:cNvSpPr txBox="1"/>
          <p:nvPr/>
        </p:nvSpPr>
        <p:spPr>
          <a:xfrm>
            <a:off x="4617719" y="3472868"/>
            <a:ext cx="320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Fraud Protection</a:t>
            </a:r>
            <a:endParaRPr/>
          </a:p>
        </p:txBody>
      </p:sp>
      <p:sp>
        <p:nvSpPr>
          <p:cNvPr id="186" name="Google Shape;186;p5"/>
          <p:cNvSpPr txBox="1"/>
          <p:nvPr/>
        </p:nvSpPr>
        <p:spPr>
          <a:xfrm>
            <a:off x="4617719" y="3747188"/>
            <a:ext cx="32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Multi-layer MENA-trained detection — VPN, click farms, bots</a:t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4617719" y="4250108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3–5× Better</a:t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8229600" y="2969948"/>
            <a:ext cx="3474600" cy="201180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8229600" y="2969948"/>
            <a:ext cx="3474600" cy="38100"/>
          </a:xfrm>
          <a:prstGeom prst="rect">
            <a:avLst/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 txBox="1"/>
          <p:nvPr/>
        </p:nvSpPr>
        <p:spPr>
          <a:xfrm>
            <a:off x="8366760" y="3152828"/>
            <a:ext cx="45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/>
          </a:p>
        </p:txBody>
      </p:sp>
      <p:sp>
        <p:nvSpPr>
          <p:cNvPr id="191" name="Google Shape;191;p5"/>
          <p:cNvSpPr txBox="1"/>
          <p:nvPr/>
        </p:nvSpPr>
        <p:spPr>
          <a:xfrm>
            <a:off x="8366760" y="3472868"/>
            <a:ext cx="320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Smart Optimization</a:t>
            </a:r>
            <a:endParaRPr/>
          </a:p>
        </p:txBody>
      </p:sp>
      <p:sp>
        <p:nvSpPr>
          <p:cNvPr id="192" name="Google Shape;192;p5"/>
          <p:cNvSpPr txBox="1"/>
          <p:nvPr/>
        </p:nvSpPr>
        <p:spPr>
          <a:xfrm>
            <a:off x="8366760" y="3747188"/>
            <a:ext cx="32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Real-time budget reallocation, predictive scoring, auto-reporting</a:t>
            </a:r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8366760" y="4250108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7.0× ROAS</a:t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731520" y="5255948"/>
            <a:ext cx="3474600" cy="201180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731520" y="5255948"/>
            <a:ext cx="3474600" cy="38100"/>
          </a:xfrm>
          <a:prstGeom prst="rect">
            <a:avLst/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868680" y="5438828"/>
            <a:ext cx="45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</a:t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868680" y="5758868"/>
            <a:ext cx="320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Transparent Analytics</a:t>
            </a:r>
            <a:endParaRPr/>
          </a:p>
        </p:txBody>
      </p:sp>
      <p:sp>
        <p:nvSpPr>
          <p:cNvPr id="198" name="Google Shape;198;p5"/>
          <p:cNvSpPr txBox="1"/>
          <p:nvPr/>
        </p:nvSpPr>
        <p:spPr>
          <a:xfrm>
            <a:off x="868680" y="6033188"/>
            <a:ext cx="3200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Real-time dashboards, full attribution, conversion tracking</a:t>
            </a:r>
            <a:endParaRPr/>
          </a:p>
        </p:txBody>
      </p:sp>
      <p:sp>
        <p:nvSpPr>
          <p:cNvPr id="199" name="Google Shape;199;p5"/>
          <p:cNvSpPr txBox="1"/>
          <p:nvPr/>
        </p:nvSpPr>
        <p:spPr>
          <a:xfrm>
            <a:off x="868680" y="6536108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Real-Time</a:t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4480559" y="5255948"/>
            <a:ext cx="3474600" cy="201180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5"/>
          <p:cNvSpPr/>
          <p:nvPr/>
        </p:nvSpPr>
        <p:spPr>
          <a:xfrm>
            <a:off x="4480559" y="5255948"/>
            <a:ext cx="3474600" cy="38100"/>
          </a:xfrm>
          <a:prstGeom prst="rect">
            <a:avLst/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4617719" y="5438828"/>
            <a:ext cx="45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💰</a:t>
            </a:r>
            <a:endParaRPr/>
          </a:p>
        </p:txBody>
      </p:sp>
      <p:sp>
        <p:nvSpPr>
          <p:cNvPr id="203" name="Google Shape;203;p5"/>
          <p:cNvSpPr txBox="1"/>
          <p:nvPr/>
        </p:nvSpPr>
        <p:spPr>
          <a:xfrm>
            <a:off x="4617719" y="5758868"/>
            <a:ext cx="320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Reliable Payments</a:t>
            </a:r>
            <a:endParaRPr/>
          </a:p>
        </p:txBody>
      </p:sp>
      <p:sp>
        <p:nvSpPr>
          <p:cNvPr id="204" name="Google Shape;204;p5"/>
          <p:cNvSpPr txBox="1"/>
          <p:nvPr/>
        </p:nvSpPr>
        <p:spPr>
          <a:xfrm>
            <a:off x="4617719" y="6033188"/>
            <a:ext cx="3200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On-time via bank transfer, PayPal, local methods. #1 pain solved</a:t>
            </a:r>
            <a:endParaRPr/>
          </a:p>
        </p:txBody>
      </p:sp>
      <p:sp>
        <p:nvSpPr>
          <p:cNvPr id="205" name="Google Shape;205;p5"/>
          <p:cNvSpPr txBox="1"/>
          <p:nvPr/>
        </p:nvSpPr>
        <p:spPr>
          <a:xfrm>
            <a:off x="4617719" y="6536108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64% Organic</a:t>
            </a:r>
            <a:endParaRPr/>
          </a:p>
        </p:txBody>
      </p:sp>
      <p:sp>
        <p:nvSpPr>
          <p:cNvPr id="206" name="Google Shape;206;p5"/>
          <p:cNvSpPr/>
          <p:nvPr/>
        </p:nvSpPr>
        <p:spPr>
          <a:xfrm>
            <a:off x="8229600" y="5255948"/>
            <a:ext cx="3474600" cy="201180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5"/>
          <p:cNvSpPr/>
          <p:nvPr/>
        </p:nvSpPr>
        <p:spPr>
          <a:xfrm>
            <a:off x="8229600" y="5255948"/>
            <a:ext cx="3474600" cy="38100"/>
          </a:xfrm>
          <a:prstGeom prst="rect">
            <a:avLst/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5"/>
          <p:cNvSpPr txBox="1"/>
          <p:nvPr/>
        </p:nvSpPr>
        <p:spPr>
          <a:xfrm>
            <a:off x="8366760" y="5438828"/>
            <a:ext cx="45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🌍</a:t>
            </a:r>
            <a:endParaRPr/>
          </a:p>
        </p:txBody>
      </p:sp>
      <p:sp>
        <p:nvSpPr>
          <p:cNvPr id="209" name="Google Shape;209;p5"/>
          <p:cNvSpPr txBox="1"/>
          <p:nvPr/>
        </p:nvSpPr>
        <p:spPr>
          <a:xfrm>
            <a:off x="8366760" y="5758868"/>
            <a:ext cx="3200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MENA-Native</a:t>
            </a:r>
            <a:endParaRPr/>
          </a:p>
        </p:txBody>
      </p:sp>
      <p:sp>
        <p:nvSpPr>
          <p:cNvPr id="210" name="Google Shape;210;p5"/>
          <p:cNvSpPr txBox="1"/>
          <p:nvPr/>
        </p:nvSpPr>
        <p:spPr>
          <a:xfrm>
            <a:off x="8366760" y="6033188"/>
            <a:ext cx="3200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Arabic-first, local currency, regional consumer intelligence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8366760" y="6536108"/>
            <a:ext cx="32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4 Markets</a:t>
            </a:r>
            <a:endParaRPr/>
          </a:p>
        </p:txBody>
      </p:sp>
      <p:sp>
        <p:nvSpPr>
          <p:cNvPr id="212" name="Google Shape;212;p5"/>
          <p:cNvSpPr txBox="1"/>
          <p:nvPr/>
        </p:nvSpPr>
        <p:spPr>
          <a:xfrm>
            <a:off x="4114800" y="6170348"/>
            <a:ext cx="4114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CONFIDENTIAL — Perff AI © 2026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E1E24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g3c895005316_0_0" title="Screenshot 2026-02-14 at 11.22.30 AM.png"/>
          <p:cNvPicPr preferRelativeResize="0"/>
          <p:nvPr/>
        </p:nvPicPr>
        <p:blipFill rotWithShape="1">
          <a:blip r:embed="rId3">
            <a:alphaModFix/>
          </a:blip>
          <a:srcRect b="7945" l="0" r="0" t="2472"/>
          <a:stretch/>
        </p:blipFill>
        <p:spPr>
          <a:xfrm>
            <a:off x="185946" y="264948"/>
            <a:ext cx="11481324" cy="6328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519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06 / 15</a:t>
            </a:r>
            <a:endParaRPr/>
          </a:p>
        </p:txBody>
      </p:sp>
      <p:sp>
        <p:nvSpPr>
          <p:cNvPr id="223" name="Google Shape;223;p6"/>
          <p:cNvSpPr txBox="1"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REVENUE MODEL</a:t>
            </a:r>
            <a:endParaRPr/>
          </a:p>
        </p:txBody>
      </p:sp>
      <p:sp>
        <p:nvSpPr>
          <p:cNvPr id="224" name="Google Shape;224;p6"/>
          <p:cNvSpPr txBox="1"/>
          <p:nvPr/>
        </p:nvSpPr>
        <p:spPr>
          <a:xfrm>
            <a:off x="731520" y="1097280"/>
            <a:ext cx="10058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We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40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Make Money.</a:t>
            </a:r>
            <a:endParaRPr/>
          </a:p>
        </p:txBody>
      </p:sp>
      <p:sp>
        <p:nvSpPr>
          <p:cNvPr id="225" name="Google Shape;225;p6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Performance-based revenue with built-in alignment — we only make money when our clients get results.</a:t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1371600" y="3108960"/>
            <a:ext cx="2743200" cy="109728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 txBox="1"/>
          <p:nvPr/>
        </p:nvSpPr>
        <p:spPr>
          <a:xfrm>
            <a:off x="1554480" y="32004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🏢 Brand Pays</a:t>
            </a:r>
            <a:endParaRPr/>
          </a:p>
        </p:txBody>
      </p:sp>
      <p:sp>
        <p:nvSpPr>
          <p:cNvPr id="228" name="Google Shape;228;p6"/>
          <p:cNvSpPr txBox="1"/>
          <p:nvPr/>
        </p:nvSpPr>
        <p:spPr>
          <a:xfrm>
            <a:off x="1554480" y="347472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Per conversion (CPA/CPS)</a:t>
            </a:r>
            <a:endParaRPr/>
          </a:p>
        </p:txBody>
      </p:sp>
      <p:sp>
        <p:nvSpPr>
          <p:cNvPr id="229" name="Google Shape;229;p6"/>
          <p:cNvSpPr txBox="1"/>
          <p:nvPr/>
        </p:nvSpPr>
        <p:spPr>
          <a:xfrm>
            <a:off x="1554480" y="3749039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$100</a:t>
            </a:r>
            <a:endParaRPr/>
          </a:p>
        </p:txBody>
      </p:sp>
      <p:sp>
        <p:nvSpPr>
          <p:cNvPr id="230" name="Google Shape;230;p6"/>
          <p:cNvSpPr txBox="1"/>
          <p:nvPr/>
        </p:nvSpPr>
        <p:spPr>
          <a:xfrm>
            <a:off x="4206240" y="33832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5029200" y="3108960"/>
            <a:ext cx="2743200" cy="1097280"/>
          </a:xfrm>
          <a:prstGeom prst="roundRect">
            <a:avLst>
              <a:gd fmla="val 16667" name="adj"/>
            </a:avLst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 txBox="1"/>
          <p:nvPr/>
        </p:nvSpPr>
        <p:spPr>
          <a:xfrm>
            <a:off x="5212080" y="32004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0B1519"/>
                </a:solidFill>
                <a:latin typeface="Calibri"/>
                <a:ea typeface="Calibri"/>
                <a:cs typeface="Calibri"/>
                <a:sym typeface="Calibri"/>
              </a:rPr>
              <a:t>🧠 Perff AI Keeps</a:t>
            </a:r>
            <a:endParaRPr/>
          </a:p>
        </p:txBody>
      </p:sp>
      <p:sp>
        <p:nvSpPr>
          <p:cNvPr id="233" name="Google Shape;233;p6"/>
          <p:cNvSpPr txBox="1"/>
          <p:nvPr/>
        </p:nvSpPr>
        <p:spPr>
          <a:xfrm>
            <a:off x="5212080" y="347472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0B1519"/>
                </a:solidFill>
                <a:latin typeface="Calibri"/>
                <a:ea typeface="Calibri"/>
                <a:cs typeface="Calibri"/>
                <a:sym typeface="Calibri"/>
              </a:rPr>
              <a:t>Performance margin</a:t>
            </a:r>
            <a:endParaRPr/>
          </a:p>
        </p:txBody>
      </p:sp>
      <p:sp>
        <p:nvSpPr>
          <p:cNvPr id="234" name="Google Shape;234;p6"/>
          <p:cNvSpPr txBox="1"/>
          <p:nvPr/>
        </p:nvSpPr>
        <p:spPr>
          <a:xfrm>
            <a:off x="5212080" y="3749039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B1519"/>
                </a:solidFill>
                <a:latin typeface="Consolas"/>
                <a:ea typeface="Consolas"/>
                <a:cs typeface="Consolas"/>
                <a:sym typeface="Consolas"/>
              </a:rPr>
              <a:t>$20–35</a:t>
            </a:r>
            <a:endParaRPr/>
          </a:p>
        </p:txBody>
      </p:sp>
      <p:sp>
        <p:nvSpPr>
          <p:cNvPr id="235" name="Google Shape;235;p6"/>
          <p:cNvSpPr txBox="1"/>
          <p:nvPr/>
        </p:nvSpPr>
        <p:spPr>
          <a:xfrm>
            <a:off x="7863840" y="338328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8686800" y="3108960"/>
            <a:ext cx="2743200" cy="109728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 txBox="1"/>
          <p:nvPr/>
        </p:nvSpPr>
        <p:spPr>
          <a:xfrm>
            <a:off x="8869680" y="320040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📱 Publisher Earns</a:t>
            </a:r>
            <a:endParaRPr/>
          </a:p>
        </p:txBody>
      </p:sp>
      <p:sp>
        <p:nvSpPr>
          <p:cNvPr id="238" name="Google Shape;238;p6"/>
          <p:cNvSpPr txBox="1"/>
          <p:nvPr/>
        </p:nvSpPr>
        <p:spPr>
          <a:xfrm>
            <a:off x="8869680" y="3474720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Commission payout</a:t>
            </a:r>
            <a:endParaRPr/>
          </a:p>
        </p:txBody>
      </p:sp>
      <p:sp>
        <p:nvSpPr>
          <p:cNvPr id="239" name="Google Shape;239;p6"/>
          <p:cNvSpPr txBox="1"/>
          <p:nvPr/>
        </p:nvSpPr>
        <p:spPr>
          <a:xfrm>
            <a:off x="8869680" y="3749039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$65–80</a:t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731520" y="4572000"/>
            <a:ext cx="3474720" cy="192024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6"/>
          <p:cNvSpPr txBox="1"/>
          <p:nvPr/>
        </p:nvSpPr>
        <p:spPr>
          <a:xfrm>
            <a:off x="868680" y="470916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PRIMARY — LIVE</a:t>
            </a:r>
            <a:endParaRPr/>
          </a:p>
        </p:txBody>
      </p:sp>
      <p:sp>
        <p:nvSpPr>
          <p:cNvPr id="242" name="Google Shape;242;p6"/>
          <p:cNvSpPr txBox="1"/>
          <p:nvPr/>
        </p:nvSpPr>
        <p:spPr>
          <a:xfrm>
            <a:off x="868680" y="493776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Performance Margin</a:t>
            </a:r>
            <a:endParaRPr/>
          </a:p>
        </p:txBody>
      </p:sp>
      <p:sp>
        <p:nvSpPr>
          <p:cNvPr id="243" name="Google Shape;243;p6"/>
          <p:cNvSpPr txBox="1"/>
          <p:nvPr/>
        </p:nvSpPr>
        <p:spPr>
          <a:xfrm>
            <a:off x="868680" y="521208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Brand pays per conversion. Perff AI keeps the spread. 20–35% gross margin on every transaction.</a:t>
            </a:r>
            <a:endParaRPr/>
          </a:p>
        </p:txBody>
      </p:sp>
      <p:sp>
        <p:nvSpPr>
          <p:cNvPr id="244" name="Google Shape;244;p6"/>
          <p:cNvSpPr txBox="1"/>
          <p:nvPr/>
        </p:nvSpPr>
        <p:spPr>
          <a:xfrm>
            <a:off x="868680" y="59436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90%+ of Revenue</a:t>
            </a:r>
            <a:endParaRPr/>
          </a:p>
        </p:txBody>
      </p:sp>
      <p:sp>
        <p:nvSpPr>
          <p:cNvPr id="245" name="Google Shape;245;p6"/>
          <p:cNvSpPr/>
          <p:nvPr/>
        </p:nvSpPr>
        <p:spPr>
          <a:xfrm>
            <a:off x="4480559" y="4572000"/>
            <a:ext cx="3474720" cy="192024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 txBox="1"/>
          <p:nvPr/>
        </p:nvSpPr>
        <p:spPr>
          <a:xfrm>
            <a:off x="4617719" y="470916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F0A54B"/>
                </a:solidFill>
                <a:latin typeface="Consolas"/>
                <a:ea typeface="Consolas"/>
                <a:cs typeface="Consolas"/>
                <a:sym typeface="Consolas"/>
              </a:rPr>
              <a:t>SCALING — BUILDING</a:t>
            </a:r>
            <a:endParaRPr/>
          </a:p>
        </p:txBody>
      </p:sp>
      <p:sp>
        <p:nvSpPr>
          <p:cNvPr id="247" name="Google Shape;247;p6"/>
          <p:cNvSpPr txBox="1"/>
          <p:nvPr/>
        </p:nvSpPr>
        <p:spPr>
          <a:xfrm>
            <a:off x="4617719" y="493776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SaaS Features</a:t>
            </a:r>
            <a:endParaRPr/>
          </a:p>
        </p:txBody>
      </p:sp>
      <p:sp>
        <p:nvSpPr>
          <p:cNvPr id="248" name="Google Shape;248;p6"/>
          <p:cNvSpPr txBox="1"/>
          <p:nvPr/>
        </p:nvSpPr>
        <p:spPr>
          <a:xfrm>
            <a:off x="4617719" y="521208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Premium AI tools — predictive scoring, fraud detection, API access. Subscription-based recurring revenue.</a:t>
            </a:r>
            <a:endParaRPr/>
          </a:p>
        </p:txBody>
      </p:sp>
      <p:sp>
        <p:nvSpPr>
          <p:cNvPr id="249" name="Google Shape;249;p6"/>
          <p:cNvSpPr txBox="1"/>
          <p:nvPr/>
        </p:nvSpPr>
        <p:spPr>
          <a:xfrm>
            <a:off x="4617719" y="59436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Launching 2026</a:t>
            </a:r>
            <a:endParaRPr/>
          </a:p>
        </p:txBody>
      </p:sp>
      <p:sp>
        <p:nvSpPr>
          <p:cNvPr id="250" name="Google Shape;250;p6"/>
          <p:cNvSpPr/>
          <p:nvPr/>
        </p:nvSpPr>
        <p:spPr>
          <a:xfrm>
            <a:off x="8229600" y="4572000"/>
            <a:ext cx="3474720" cy="192024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6"/>
          <p:cNvSpPr txBox="1"/>
          <p:nvPr/>
        </p:nvSpPr>
        <p:spPr>
          <a:xfrm>
            <a:off x="8366760" y="470916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4BA3F0"/>
                </a:solidFill>
                <a:latin typeface="Consolas"/>
                <a:ea typeface="Consolas"/>
                <a:cs typeface="Consolas"/>
                <a:sym typeface="Consolas"/>
              </a:rPr>
              <a:t>HIGH-TOUCH — LIVE</a:t>
            </a:r>
            <a:endParaRPr/>
          </a:p>
        </p:txBody>
      </p:sp>
      <p:sp>
        <p:nvSpPr>
          <p:cNvPr id="252" name="Google Shape;252;p6"/>
          <p:cNvSpPr txBox="1"/>
          <p:nvPr/>
        </p:nvSpPr>
        <p:spPr>
          <a:xfrm>
            <a:off x="8366760" y="493776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Managed Services</a:t>
            </a:r>
            <a:endParaRPr/>
          </a:p>
        </p:txBody>
      </p:sp>
      <p:sp>
        <p:nvSpPr>
          <p:cNvPr id="253" name="Google Shape;253;p6"/>
          <p:cNvSpPr txBox="1"/>
          <p:nvPr/>
        </p:nvSpPr>
        <p:spPr>
          <a:xfrm>
            <a:off x="8366760" y="5212080"/>
            <a:ext cx="3200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Full-service affiliate program management for enterprise brands entering MENA.</a:t>
            </a:r>
            <a:endParaRPr/>
          </a:p>
        </p:txBody>
      </p:sp>
      <p:sp>
        <p:nvSpPr>
          <p:cNvPr id="254" name="Google Shape;254;p6"/>
          <p:cNvSpPr txBox="1"/>
          <p:nvPr/>
        </p:nvSpPr>
        <p:spPr>
          <a:xfrm>
            <a:off x="8366760" y="594360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Select Clients</a:t>
            </a:r>
            <a:endParaRPr/>
          </a:p>
        </p:txBody>
      </p:sp>
      <p:sp>
        <p:nvSpPr>
          <p:cNvPr id="255" name="Google Shape;255;p6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CONFIDENTIAL — Perff AI © 2026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519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07 / 15</a:t>
            </a:r>
            <a:endParaRPr/>
          </a:p>
        </p:txBody>
      </p:sp>
      <p:sp>
        <p:nvSpPr>
          <p:cNvPr id="261" name="Google Shape;261;p7"/>
          <p:cNvSpPr txBox="1"/>
          <p:nvPr/>
        </p:nvSpPr>
        <p:spPr>
          <a:xfrm>
            <a:off x="1371600" y="548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MARKET OPPORTUNITY</a:t>
            </a:r>
            <a:endParaRPr/>
          </a:p>
        </p:txBody>
      </p:sp>
      <p:sp>
        <p:nvSpPr>
          <p:cNvPr id="262" name="Google Shape;262;p7"/>
          <p:cNvSpPr txBox="1"/>
          <p:nvPr/>
        </p:nvSpPr>
        <p:spPr>
          <a:xfrm>
            <a:off x="731520" y="914400"/>
            <a:ext cx="10698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$30 Billion Market.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40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MENA Is the Fastest-Growing Piece.</a:t>
            </a:r>
            <a:endParaRPr/>
          </a:p>
        </p:txBody>
      </p:sp>
      <p:sp>
        <p:nvSpPr>
          <p:cNvPr id="263" name="Google Shape;263;p7"/>
          <p:cNvSpPr txBox="1"/>
          <p:nvPr/>
        </p:nvSpPr>
        <p:spPr>
          <a:xfrm>
            <a:off x="1828800" y="22860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Global affiliate marketing is projected to reach $30B by 2031. MENA's share is growing 25%+ annually.</a:t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731520" y="3017520"/>
            <a:ext cx="3474720" cy="164592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 txBox="1"/>
          <p:nvPr/>
        </p:nvSpPr>
        <p:spPr>
          <a:xfrm>
            <a:off x="868680" y="310896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TOTAL ADDRESSABLE MARKET</a:t>
            </a:r>
            <a:endParaRPr/>
          </a:p>
        </p:txBody>
      </p:sp>
      <p:sp>
        <p:nvSpPr>
          <p:cNvPr id="266" name="Google Shape;266;p7"/>
          <p:cNvSpPr txBox="1"/>
          <p:nvPr/>
        </p:nvSpPr>
        <p:spPr>
          <a:xfrm>
            <a:off x="868680" y="33832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$30B</a:t>
            </a:r>
            <a:endParaRPr/>
          </a:p>
        </p:txBody>
      </p:sp>
      <p:sp>
        <p:nvSpPr>
          <p:cNvPr id="267" name="Google Shape;267;p7"/>
          <p:cNvSpPr txBox="1"/>
          <p:nvPr/>
        </p:nvSpPr>
        <p:spPr>
          <a:xfrm>
            <a:off x="868680" y="393192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Global affiliate marketing by 2031</a:t>
            </a:r>
            <a:endParaRPr/>
          </a:p>
        </p:txBody>
      </p:sp>
      <p:sp>
        <p:nvSpPr>
          <p:cNvPr id="268" name="Google Shape;268;p7"/>
          <p:cNvSpPr txBox="1"/>
          <p:nvPr/>
        </p:nvSpPr>
        <p:spPr>
          <a:xfrm>
            <a:off x="868680" y="420624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7.7% CAGR</a:t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4480559" y="3017520"/>
            <a:ext cx="3474720" cy="164592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4617719" y="310896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SERVICEABLE ADDRESSABLE MARKET</a:t>
            </a:r>
            <a:endParaRPr/>
          </a:p>
        </p:txBody>
      </p:sp>
      <p:sp>
        <p:nvSpPr>
          <p:cNvPr id="271" name="Google Shape;271;p7"/>
          <p:cNvSpPr txBox="1"/>
          <p:nvPr/>
        </p:nvSpPr>
        <p:spPr>
          <a:xfrm>
            <a:off x="4617719" y="33832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$1.5B</a:t>
            </a:r>
            <a:endParaRPr/>
          </a:p>
        </p:txBody>
      </p:sp>
      <p:sp>
        <p:nvSpPr>
          <p:cNvPr id="272" name="Google Shape;272;p7"/>
          <p:cNvSpPr txBox="1"/>
          <p:nvPr/>
        </p:nvSpPr>
        <p:spPr>
          <a:xfrm>
            <a:off x="4617719" y="393192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MENA performance marketing</a:t>
            </a:r>
            <a:endParaRPr/>
          </a:p>
        </p:txBody>
      </p:sp>
      <p:sp>
        <p:nvSpPr>
          <p:cNvPr id="273" name="Google Shape;273;p7"/>
          <p:cNvSpPr txBox="1"/>
          <p:nvPr/>
        </p:nvSpPr>
        <p:spPr>
          <a:xfrm>
            <a:off x="4617719" y="420624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25%+ YoY GROWTH</a:t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8229600" y="3017520"/>
            <a:ext cx="3474720" cy="164592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 txBox="1"/>
          <p:nvPr/>
        </p:nvSpPr>
        <p:spPr>
          <a:xfrm>
            <a:off x="8366760" y="310896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SERVICEABLE OBTAINABLE MARKET</a:t>
            </a:r>
            <a:endParaRPr/>
          </a:p>
        </p:txBody>
      </p:sp>
      <p:sp>
        <p:nvSpPr>
          <p:cNvPr id="276" name="Google Shape;276;p7"/>
          <p:cNvSpPr txBox="1"/>
          <p:nvPr/>
        </p:nvSpPr>
        <p:spPr>
          <a:xfrm>
            <a:off x="8366760" y="338328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$200M</a:t>
            </a:r>
            <a:endParaRPr/>
          </a:p>
        </p:txBody>
      </p:sp>
      <p:sp>
        <p:nvSpPr>
          <p:cNvPr id="277" name="Google Shape;277;p7"/>
          <p:cNvSpPr txBox="1"/>
          <p:nvPr/>
        </p:nvSpPr>
        <p:spPr>
          <a:xfrm>
            <a:off x="8366760" y="393192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3-year target (UAE + KSA + Egypt)</a:t>
            </a:r>
            <a:endParaRPr/>
          </a:p>
        </p:txBody>
      </p:sp>
      <p:sp>
        <p:nvSpPr>
          <p:cNvPr id="278" name="Google Shape;278;p7"/>
          <p:cNvSpPr txBox="1"/>
          <p:nvPr/>
        </p:nvSpPr>
        <p:spPr>
          <a:xfrm>
            <a:off x="8366760" y="420624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OUR BEACHHEAD</a:t>
            </a: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731520" y="502920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731520" y="5029200"/>
            <a:ext cx="2560320" cy="38100"/>
          </a:xfrm>
          <a:prstGeom prst="rect">
            <a:avLst/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 txBox="1"/>
          <p:nvPr/>
        </p:nvSpPr>
        <p:spPr>
          <a:xfrm>
            <a:off x="868680" y="521208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/>
          </a:p>
        </p:txBody>
      </p:sp>
      <p:sp>
        <p:nvSpPr>
          <p:cNvPr id="282" name="Google Shape;282;p7"/>
          <p:cNvSpPr txBox="1"/>
          <p:nvPr/>
        </p:nvSpPr>
        <p:spPr>
          <a:xfrm>
            <a:off x="868680" y="55321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15% E-com Growth</a:t>
            </a:r>
            <a:endParaRPr/>
          </a:p>
        </p:txBody>
      </p:sp>
      <p:sp>
        <p:nvSpPr>
          <p:cNvPr id="283" name="Google Shape;283;p7"/>
          <p:cNvSpPr txBox="1"/>
          <p:nvPr/>
        </p:nvSpPr>
        <p:spPr>
          <a:xfrm>
            <a:off x="868680" y="580644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Fastest major region globally</a:t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3566160" y="502920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3566160" y="5029200"/>
            <a:ext cx="2560320" cy="38100"/>
          </a:xfrm>
          <a:prstGeom prst="rect">
            <a:avLst/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 txBox="1"/>
          <p:nvPr/>
        </p:nvSpPr>
        <p:spPr>
          <a:xfrm>
            <a:off x="3703320" y="521208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👥</a:t>
            </a:r>
            <a:endParaRPr/>
          </a:p>
        </p:txBody>
      </p:sp>
      <p:sp>
        <p:nvSpPr>
          <p:cNvPr id="287" name="Google Shape;287;p7"/>
          <p:cNvSpPr txBox="1"/>
          <p:nvPr/>
        </p:nvSpPr>
        <p:spPr>
          <a:xfrm>
            <a:off x="3703320" y="55321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400M+ Under 30</a:t>
            </a:r>
            <a:endParaRPr/>
          </a:p>
        </p:txBody>
      </p:sp>
      <p:sp>
        <p:nvSpPr>
          <p:cNvPr id="288" name="Google Shape;288;p7"/>
          <p:cNvSpPr txBox="1"/>
          <p:nvPr/>
        </p:nvSpPr>
        <p:spPr>
          <a:xfrm>
            <a:off x="3703320" y="580644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Digital-native consumers</a:t>
            </a:r>
            <a:endParaRPr/>
          </a:p>
        </p:txBody>
      </p:sp>
      <p:sp>
        <p:nvSpPr>
          <p:cNvPr id="289" name="Google Shape;289;p7"/>
          <p:cNvSpPr/>
          <p:nvPr/>
        </p:nvSpPr>
        <p:spPr>
          <a:xfrm>
            <a:off x="6400800" y="502920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6400800" y="5029200"/>
            <a:ext cx="2560320" cy="38100"/>
          </a:xfrm>
          <a:prstGeom prst="rect">
            <a:avLst/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 txBox="1"/>
          <p:nvPr/>
        </p:nvSpPr>
        <p:spPr>
          <a:xfrm>
            <a:off x="6537960" y="521208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/>
          </a:p>
        </p:txBody>
      </p:sp>
      <p:sp>
        <p:nvSpPr>
          <p:cNvPr id="292" name="Google Shape;292;p7"/>
          <p:cNvSpPr txBox="1"/>
          <p:nvPr/>
        </p:nvSpPr>
        <p:spPr>
          <a:xfrm>
            <a:off x="6537960" y="55321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&gt;90% Smartphones</a:t>
            </a:r>
            <a:endParaRPr/>
          </a:p>
        </p:txBody>
      </p:sp>
      <p:sp>
        <p:nvSpPr>
          <p:cNvPr id="293" name="Google Shape;293;p7"/>
          <p:cNvSpPr txBox="1"/>
          <p:nvPr/>
        </p:nvSpPr>
        <p:spPr>
          <a:xfrm>
            <a:off x="6537960" y="580644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GCC penetration rate</a:t>
            </a: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9235440" y="5029200"/>
            <a:ext cx="2560320" cy="128016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9235440" y="5029200"/>
            <a:ext cx="2560320" cy="38100"/>
          </a:xfrm>
          <a:prstGeom prst="rect">
            <a:avLst/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 txBox="1"/>
          <p:nvPr/>
        </p:nvSpPr>
        <p:spPr>
          <a:xfrm>
            <a:off x="9372600" y="521208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🏗️</a:t>
            </a:r>
            <a:endParaRPr/>
          </a:p>
        </p:txBody>
      </p:sp>
      <p:sp>
        <p:nvSpPr>
          <p:cNvPr id="297" name="Google Shape;297;p7"/>
          <p:cNvSpPr txBox="1"/>
          <p:nvPr/>
        </p:nvSpPr>
        <p:spPr>
          <a:xfrm>
            <a:off x="9372600" y="553212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Vision 2030</a:t>
            </a:r>
            <a:endParaRPr/>
          </a:p>
        </p:txBody>
      </p:sp>
      <p:sp>
        <p:nvSpPr>
          <p:cNvPr id="298" name="Google Shape;298;p7"/>
          <p:cNvSpPr txBox="1"/>
          <p:nvPr/>
        </p:nvSpPr>
        <p:spPr>
          <a:xfrm>
            <a:off x="9372600" y="580644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KSA e-commerce push</a:t>
            </a:r>
            <a:endParaRPr/>
          </a:p>
        </p:txBody>
      </p:sp>
      <p:sp>
        <p:nvSpPr>
          <p:cNvPr id="299" name="Google Shape;299;p7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CONFIDENTIAL — Perff AI © 2026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519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08 / 15</a:t>
            </a:r>
            <a:endParaRPr/>
          </a:p>
        </p:txBody>
      </p:sp>
      <p:sp>
        <p:nvSpPr>
          <p:cNvPr id="305" name="Google Shape;305;p8"/>
          <p:cNvSpPr txBox="1"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COMPETITIVE LANDSCAPE</a:t>
            </a:r>
            <a:endParaRPr/>
          </a:p>
        </p:txBody>
      </p:sp>
      <p:sp>
        <p:nvSpPr>
          <p:cNvPr id="306" name="Google Shape;306;p8"/>
          <p:cNvSpPr txBox="1"/>
          <p:nvPr/>
        </p:nvSpPr>
        <p:spPr>
          <a:xfrm>
            <a:off x="731520" y="1097280"/>
            <a:ext cx="10058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One Owns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40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MENA Affiliate Marketing.</a:t>
            </a:r>
            <a:endParaRPr/>
          </a:p>
        </p:txBody>
      </p:sp>
      <p:sp>
        <p:nvSpPr>
          <p:cNvPr id="307" name="Google Shape;307;p8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The only question is whether the winner will be a MENA-native platform or a Western player adapting late.</a:t>
            </a:r>
            <a:endParaRPr/>
          </a:p>
        </p:txBody>
      </p:sp>
      <p:graphicFrame>
        <p:nvGraphicFramePr>
          <p:cNvPr id="308" name="Google Shape;308;p8"/>
          <p:cNvGraphicFramePr/>
          <p:nvPr/>
        </p:nvGraphicFramePr>
        <p:xfrm>
          <a:off x="548640" y="32004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{EF518142-43E7-401E-8973-750EC456E051}</a:tableStyleId>
              </a:tblPr>
              <a:tblGrid>
                <a:gridCol w="1463050"/>
                <a:gridCol w="1371600"/>
                <a:gridCol w="1188725"/>
                <a:gridCol w="1188725"/>
                <a:gridCol w="2011675"/>
                <a:gridCol w="20116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63C29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Platform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63C29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MENA Focus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63C29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AI/ML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63C29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Arabic First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63C29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Publisher Network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63C29D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Fraud Detection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B1519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63C29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Perff AI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63C29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100%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63C29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Core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63C29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Yes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63C29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870+ MENA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63C29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MENA-trained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E24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CJ Affiliate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 Minimal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⚠️ Basic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 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⚠️ Global, few MENA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⚠️ Global only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B1519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Rakuten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 None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⚠️ Basic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 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⚠️ Global focus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⚠️ Not localized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E24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Impact.com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⚠️ Entering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✅ Strong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 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⚠️ Growing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⚠️ Global models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B1519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Awin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 None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⚠️ Basic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 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⚠️ EU/US-focused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⚠️ Not MENA-tuned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E24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ArabyAds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⚠️ Partial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 None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⚠️ Partial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⚠️ Smaller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B151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 None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B1519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Admitad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⚠️ Some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 Basic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❌ 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⚠️ Global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E2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u="none" cap="none" strike="noStrike">
                          <a:solidFill>
                            <a:srgbClr val="D8E6E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⚠️ Basic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E24"/>
                    </a:solidFill>
                  </a:tcPr>
                </a:tc>
              </a:tr>
            </a:tbl>
          </a:graphicData>
        </a:graphic>
      </p:graphicFrame>
      <p:sp>
        <p:nvSpPr>
          <p:cNvPr id="309" name="Google Shape;309;p8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OUR MOAT: 870+ MENA publishers · MENA-trained AI · Arabic-first platform · 50+ enterprise relationships · 250+ campaign dataset · Local payment infrastructure</a:t>
            </a:r>
            <a:endParaRPr/>
          </a:p>
        </p:txBody>
      </p:sp>
      <p:sp>
        <p:nvSpPr>
          <p:cNvPr id="310" name="Google Shape;310;p8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CONFIDENTIAL — Perff AI © 2026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519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9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09 / 15</a:t>
            </a:r>
            <a:endParaRPr/>
          </a:p>
        </p:txBody>
      </p:sp>
      <p:sp>
        <p:nvSpPr>
          <p:cNvPr id="316" name="Google Shape;316;p9"/>
          <p:cNvSpPr txBox="1"/>
          <p:nvPr/>
        </p:nvSpPr>
        <p:spPr>
          <a:xfrm>
            <a:off x="1371600" y="548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TECHNOLOGY &amp; FLYWHEEL</a:t>
            </a:r>
            <a:endParaRPr/>
          </a:p>
        </p:txBody>
      </p:sp>
      <p:sp>
        <p:nvSpPr>
          <p:cNvPr id="317" name="Google Shape;317;p9"/>
          <p:cNvSpPr txBox="1"/>
          <p:nvPr/>
        </p:nvSpPr>
        <p:spPr>
          <a:xfrm>
            <a:off x="731520" y="914400"/>
            <a:ext cx="10698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AI Gets Smarter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40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With Every Campaign.</a:t>
            </a:r>
            <a:endParaRPr/>
          </a:p>
        </p:txBody>
      </p:sp>
      <p:sp>
        <p:nvSpPr>
          <p:cNvPr id="318" name="Google Shape;318;p9"/>
          <p:cNvSpPr txBox="1"/>
          <p:nvPr/>
        </p:nvSpPr>
        <p:spPr>
          <a:xfrm>
            <a:off x="1828800" y="22860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Every campaign trains our models. Every publisher adds data. Every brand deepens our understanding. This creates a compounding advantage competitors would need years to replicate.</a:t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457200" y="3200400"/>
            <a:ext cx="2011680" cy="82296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 txBox="1"/>
          <p:nvPr/>
        </p:nvSpPr>
        <p:spPr>
          <a:xfrm>
            <a:off x="548640" y="32918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🏢 More Brands</a:t>
            </a:r>
            <a:endParaRPr/>
          </a:p>
        </p:txBody>
      </p:sp>
      <p:sp>
        <p:nvSpPr>
          <p:cNvPr id="321" name="Google Shape;321;p9"/>
          <p:cNvSpPr txBox="1"/>
          <p:nvPr/>
        </p:nvSpPr>
        <p:spPr>
          <a:xfrm>
            <a:off x="2377440" y="33832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2743200" y="3200400"/>
            <a:ext cx="2011680" cy="82296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 txBox="1"/>
          <p:nvPr/>
        </p:nvSpPr>
        <p:spPr>
          <a:xfrm>
            <a:off x="2834640" y="32918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📊 More Data</a:t>
            </a:r>
            <a:endParaRPr/>
          </a:p>
        </p:txBody>
      </p:sp>
      <p:sp>
        <p:nvSpPr>
          <p:cNvPr id="324" name="Google Shape;324;p9"/>
          <p:cNvSpPr txBox="1"/>
          <p:nvPr/>
        </p:nvSpPr>
        <p:spPr>
          <a:xfrm>
            <a:off x="4663440" y="33832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5029200" y="3200400"/>
            <a:ext cx="2011680" cy="822960"/>
          </a:xfrm>
          <a:prstGeom prst="roundRect">
            <a:avLst>
              <a:gd fmla="val 16667" name="adj"/>
            </a:avLst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 txBox="1"/>
          <p:nvPr/>
        </p:nvSpPr>
        <p:spPr>
          <a:xfrm>
            <a:off x="5120640" y="32918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0B1519"/>
                </a:solidFill>
                <a:latin typeface="Calibri"/>
                <a:ea typeface="Calibri"/>
                <a:cs typeface="Calibri"/>
                <a:sym typeface="Calibri"/>
              </a:rPr>
              <a:t>🧠 Smarter AI</a:t>
            </a:r>
            <a:endParaRPr/>
          </a:p>
        </p:txBody>
      </p:sp>
      <p:sp>
        <p:nvSpPr>
          <p:cNvPr id="327" name="Google Shape;327;p9"/>
          <p:cNvSpPr txBox="1"/>
          <p:nvPr/>
        </p:nvSpPr>
        <p:spPr>
          <a:xfrm>
            <a:off x="6949440" y="33832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28" name="Google Shape;328;p9"/>
          <p:cNvSpPr/>
          <p:nvPr/>
        </p:nvSpPr>
        <p:spPr>
          <a:xfrm>
            <a:off x="7315200" y="3200400"/>
            <a:ext cx="2011680" cy="82296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 txBox="1"/>
          <p:nvPr/>
        </p:nvSpPr>
        <p:spPr>
          <a:xfrm>
            <a:off x="7406640" y="32918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📈 Better Results</a:t>
            </a:r>
            <a:endParaRPr/>
          </a:p>
        </p:txBody>
      </p:sp>
      <p:sp>
        <p:nvSpPr>
          <p:cNvPr id="330" name="Google Shape;330;p9"/>
          <p:cNvSpPr txBox="1"/>
          <p:nvPr/>
        </p:nvSpPr>
        <p:spPr>
          <a:xfrm>
            <a:off x="9235440" y="338328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9601200" y="3200400"/>
            <a:ext cx="2011680" cy="82296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 txBox="1"/>
          <p:nvPr/>
        </p:nvSpPr>
        <p:spPr>
          <a:xfrm>
            <a:off x="9692640" y="3291840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📱 More Publishers</a:t>
            </a:r>
            <a:endParaRPr/>
          </a:p>
        </p:txBody>
      </p:sp>
      <p:sp>
        <p:nvSpPr>
          <p:cNvPr id="333" name="Google Shape;333;p9"/>
          <p:cNvSpPr txBox="1"/>
          <p:nvPr/>
        </p:nvSpPr>
        <p:spPr>
          <a:xfrm>
            <a:off x="731520" y="42976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AI — LIVE TODAY</a:t>
            </a:r>
            <a:endParaRPr/>
          </a:p>
        </p:txBody>
      </p:sp>
      <p:sp>
        <p:nvSpPr>
          <p:cNvPr id="334" name="Google Shape;334;p9"/>
          <p:cNvSpPr txBox="1"/>
          <p:nvPr/>
        </p:nvSpPr>
        <p:spPr>
          <a:xfrm>
            <a:off x="731520" y="4572000"/>
            <a:ext cx="50292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✅ Fraud detection MVP (MENA-specific patterns)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✅ Predictive campaign scoring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✅ Automated performance reporting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✅ Budget optimization recommendations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✅ Publisher-brand matching algorithms</a:t>
            </a:r>
            <a:endParaRPr/>
          </a:p>
        </p:txBody>
      </p:sp>
      <p:sp>
        <p:nvSpPr>
          <p:cNvPr id="335" name="Google Shape;335;p9"/>
          <p:cNvSpPr txBox="1"/>
          <p:nvPr/>
        </p:nvSpPr>
        <p:spPr>
          <a:xfrm>
            <a:off x="6400800" y="42976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0A54B"/>
                </a:solidFill>
                <a:latin typeface="Consolas"/>
                <a:ea typeface="Consolas"/>
                <a:cs typeface="Consolas"/>
                <a:sym typeface="Consolas"/>
              </a:rPr>
              <a:t>AI — PLANNED (POST-INVESTMENT)</a:t>
            </a:r>
            <a:endParaRPr/>
          </a:p>
        </p:txBody>
      </p:sp>
      <p:sp>
        <p:nvSpPr>
          <p:cNvPr id="336" name="Google Shape;336;p9"/>
          <p:cNvSpPr txBox="1"/>
          <p:nvPr/>
        </p:nvSpPr>
        <p:spPr>
          <a:xfrm>
            <a:off x="6400800" y="457200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🔨 Multi-layer fraud detection v2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🔨 Adaptive real-time budget allocation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🔨 Publisher recommendation engine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🔨 Self-serve brand dashboard with AI assistant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🔨 Open API for programmatic access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🔨 NLP-based Arabic content analysis</a:t>
            </a:r>
            <a:endParaRPr/>
          </a:p>
        </p:txBody>
      </p:sp>
      <p:sp>
        <p:nvSpPr>
          <p:cNvPr id="337" name="Google Shape;337;p9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CONFIDENTIAL — Perff AI © 2026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519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0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10 / 15</a:t>
            </a:r>
            <a:endParaRPr/>
          </a:p>
        </p:txBody>
      </p:sp>
      <p:sp>
        <p:nvSpPr>
          <p:cNvPr id="343" name="Google Shape;343;p10"/>
          <p:cNvSpPr txBox="1"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EXPANSION ROADMAP</a:t>
            </a:r>
            <a:endParaRPr/>
          </a:p>
        </p:txBody>
      </p:sp>
      <p:sp>
        <p:nvSpPr>
          <p:cNvPr id="344" name="Google Shape;344;p10"/>
          <p:cNvSpPr txBox="1"/>
          <p:nvPr/>
        </p:nvSpPr>
        <p:spPr>
          <a:xfrm>
            <a:off x="731520" y="1097280"/>
            <a:ext cx="10058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UAE → KSA → Egypt →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40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Pan-MENA.</a:t>
            </a:r>
            <a:endParaRPr/>
          </a:p>
        </p:txBody>
      </p:sp>
      <p:sp>
        <p:nvSpPr>
          <p:cNvPr id="345" name="Google Shape;345;p10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Proven playbook in UAE. Now expanding to the region's two largest markets — Saudi Arabia and Egypt.</a:t>
            </a:r>
            <a:endParaRPr/>
          </a:p>
        </p:txBody>
      </p:sp>
      <p:sp>
        <p:nvSpPr>
          <p:cNvPr id="346" name="Google Shape;346;p10"/>
          <p:cNvSpPr txBox="1"/>
          <p:nvPr/>
        </p:nvSpPr>
        <p:spPr>
          <a:xfrm>
            <a:off x="731520" y="32004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2022</a:t>
            </a:r>
            <a:endParaRPr/>
          </a:p>
        </p:txBody>
      </p:sp>
      <p:sp>
        <p:nvSpPr>
          <p:cNvPr id="347" name="Google Shape;347;p10"/>
          <p:cNvSpPr txBox="1"/>
          <p:nvPr/>
        </p:nvSpPr>
        <p:spPr>
          <a:xfrm>
            <a:off x="1828800" y="32004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Foundation — UAE Launch</a:t>
            </a:r>
            <a:endParaRPr/>
          </a:p>
        </p:txBody>
      </p:sp>
      <p:sp>
        <p:nvSpPr>
          <p:cNvPr id="348" name="Google Shape;348;p10"/>
          <p:cNvSpPr txBox="1"/>
          <p:nvPr/>
        </p:nvSpPr>
        <p:spPr>
          <a:xfrm>
            <a:off x="4754880" y="320040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Founded in Abu Dhabi · First brand clients · 200+ publishers · ~$200K revenue</a:t>
            </a:r>
            <a:endParaRPr/>
          </a:p>
        </p:txBody>
      </p:sp>
      <p:sp>
        <p:nvSpPr>
          <p:cNvPr id="349" name="Google Shape;349;p10"/>
          <p:cNvSpPr txBox="1"/>
          <p:nvPr/>
        </p:nvSpPr>
        <p:spPr>
          <a:xfrm>
            <a:off x="731520" y="370332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2023</a:t>
            </a:r>
            <a:endParaRPr/>
          </a:p>
        </p:txBody>
      </p:sp>
      <p:sp>
        <p:nvSpPr>
          <p:cNvPr id="350" name="Google Shape;350;p10"/>
          <p:cNvSpPr txBox="1"/>
          <p:nvPr/>
        </p:nvSpPr>
        <p:spPr>
          <a:xfrm>
            <a:off x="1828800" y="370332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Growth — Enterprise Penetration</a:t>
            </a:r>
            <a:endParaRPr/>
          </a:p>
        </p:txBody>
      </p:sp>
      <p:sp>
        <p:nvSpPr>
          <p:cNvPr id="351" name="Google Shape;351;p10"/>
          <p:cNvSpPr txBox="1"/>
          <p:nvPr/>
        </p:nvSpPr>
        <p:spPr>
          <a:xfrm>
            <a:off x="4754880" y="370332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Signed noon, Talabat, DAMAC · Revenue 3× to $600K · 500+ publishers · Fraud detection MVP</a:t>
            </a:r>
            <a:endParaRPr/>
          </a:p>
        </p:txBody>
      </p:sp>
      <p:sp>
        <p:nvSpPr>
          <p:cNvPr id="352" name="Google Shape;352;p10"/>
          <p:cNvSpPr txBox="1"/>
          <p:nvPr/>
        </p:nvSpPr>
        <p:spPr>
          <a:xfrm>
            <a:off x="731520" y="420624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2024</a:t>
            </a:r>
            <a:endParaRPr/>
          </a:p>
        </p:txBody>
      </p:sp>
      <p:sp>
        <p:nvSpPr>
          <p:cNvPr id="353" name="Google Shape;353;p10"/>
          <p:cNvSpPr txBox="1"/>
          <p:nvPr/>
        </p:nvSpPr>
        <p:spPr>
          <a:xfrm>
            <a:off x="1828800" y="42062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Scale — Market Leadership</a:t>
            </a:r>
            <a:endParaRPr/>
          </a:p>
        </p:txBody>
      </p:sp>
      <p:sp>
        <p:nvSpPr>
          <p:cNvPr id="354" name="Google Shape;354;p10"/>
          <p:cNvSpPr txBox="1"/>
          <p:nvPr/>
        </p:nvSpPr>
        <p:spPr>
          <a:xfrm>
            <a:off x="4754880" y="420624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Revenue 2× to $1.2M · 50+ enterprise brands · 620+ publishers · 17.5% market share (UAE/KSA)</a:t>
            </a:r>
            <a:endParaRPr/>
          </a:p>
        </p:txBody>
      </p:sp>
      <p:sp>
        <p:nvSpPr>
          <p:cNvPr id="355" name="Google Shape;355;p10"/>
          <p:cNvSpPr txBox="1"/>
          <p:nvPr/>
        </p:nvSpPr>
        <p:spPr>
          <a:xfrm>
            <a:off x="731520" y="470916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2025</a:t>
            </a:r>
            <a:endParaRPr/>
          </a:p>
        </p:txBody>
      </p:sp>
      <p:sp>
        <p:nvSpPr>
          <p:cNvPr id="356" name="Google Shape;356;p10"/>
          <p:cNvSpPr txBox="1"/>
          <p:nvPr/>
        </p:nvSpPr>
        <p:spPr>
          <a:xfrm>
            <a:off x="1828800" y="470916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Investment — Pre-Seed Round</a:t>
            </a:r>
            <a:endParaRPr/>
          </a:p>
        </p:txBody>
      </p:sp>
      <p:sp>
        <p:nvSpPr>
          <p:cNvPr id="357" name="Google Shape;357;p10"/>
          <p:cNvSpPr txBox="1"/>
          <p:nvPr/>
        </p:nvSpPr>
        <p:spPr>
          <a:xfrm>
            <a:off x="4754880" y="470916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$1.8M projected revenue · Self-serve dashboard · Begin KSA expansion · Raise $8M pre-seed</a:t>
            </a:r>
            <a:endParaRPr/>
          </a:p>
        </p:txBody>
      </p:sp>
      <p:sp>
        <p:nvSpPr>
          <p:cNvPr id="358" name="Google Shape;358;p10"/>
          <p:cNvSpPr txBox="1"/>
          <p:nvPr/>
        </p:nvSpPr>
        <p:spPr>
          <a:xfrm>
            <a:off x="731520" y="521208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2026</a:t>
            </a:r>
            <a:endParaRPr/>
          </a:p>
        </p:txBody>
      </p:sp>
      <p:sp>
        <p:nvSpPr>
          <p:cNvPr id="359" name="Google Shape;359;p10"/>
          <p:cNvSpPr txBox="1"/>
          <p:nvPr/>
        </p:nvSpPr>
        <p:spPr>
          <a:xfrm>
            <a:off x="1828800" y="52120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Expansion — KSA + Product</a:t>
            </a:r>
            <a:endParaRPr/>
          </a:p>
        </p:txBody>
      </p:sp>
      <p:sp>
        <p:nvSpPr>
          <p:cNvPr id="360" name="Google Shape;360;p10"/>
          <p:cNvSpPr txBox="1"/>
          <p:nvPr/>
        </p:nvSpPr>
        <p:spPr>
          <a:xfrm>
            <a:off x="4754880" y="521208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Riyadh office · Full AI platform launch · 1,500+ publishers · $3.5M revenue · API launch</a:t>
            </a:r>
            <a:endParaRPr/>
          </a:p>
        </p:txBody>
      </p:sp>
      <p:sp>
        <p:nvSpPr>
          <p:cNvPr id="361" name="Google Shape;361;p10"/>
          <p:cNvSpPr txBox="1"/>
          <p:nvPr/>
        </p:nvSpPr>
        <p:spPr>
          <a:xfrm>
            <a:off x="731520" y="5715000"/>
            <a:ext cx="914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2027</a:t>
            </a:r>
            <a:endParaRPr/>
          </a:p>
        </p:txBody>
      </p:sp>
      <p:sp>
        <p:nvSpPr>
          <p:cNvPr id="362" name="Google Shape;362;p10"/>
          <p:cNvSpPr txBox="1"/>
          <p:nvPr/>
        </p:nvSpPr>
        <p:spPr>
          <a:xfrm>
            <a:off x="1828800" y="571500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Scale — Pan-MENA</a:t>
            </a:r>
            <a:endParaRPr/>
          </a:p>
        </p:txBody>
      </p:sp>
      <p:sp>
        <p:nvSpPr>
          <p:cNvPr id="363" name="Google Shape;363;p10"/>
          <p:cNvSpPr txBox="1"/>
          <p:nvPr/>
        </p:nvSpPr>
        <p:spPr>
          <a:xfrm>
            <a:off x="4754880" y="571500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Egypt launch · 2,000+ publishers · $8–9M revenue · SaaS revenue stream live</a:t>
            </a:r>
            <a:endParaRPr/>
          </a:p>
        </p:txBody>
      </p:sp>
      <p:sp>
        <p:nvSpPr>
          <p:cNvPr id="364" name="Google Shape;364;p10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CONFIDENTIAL — Perff AI © 2026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519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11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11 / 15</a:t>
            </a:r>
            <a:endParaRPr/>
          </a:p>
        </p:txBody>
      </p:sp>
      <p:sp>
        <p:nvSpPr>
          <p:cNvPr id="370" name="Google Shape;370;p11"/>
          <p:cNvSpPr txBox="1"/>
          <p:nvPr/>
        </p:nvSpPr>
        <p:spPr>
          <a:xfrm>
            <a:off x="1371600" y="548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FINANCIAL PERFORMANCE</a:t>
            </a:r>
            <a:endParaRPr/>
          </a:p>
        </p:txBody>
      </p:sp>
      <p:sp>
        <p:nvSpPr>
          <p:cNvPr id="371" name="Google Shape;371;p11"/>
          <p:cNvSpPr txBox="1"/>
          <p:nvPr/>
        </p:nvSpPr>
        <p:spPr>
          <a:xfrm>
            <a:off x="731520" y="914400"/>
            <a:ext cx="10698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 6× in 3 Years.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40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Self-Funded.</a:t>
            </a:r>
            <a:endParaRPr/>
          </a:p>
        </p:txBody>
      </p:sp>
      <p:sp>
        <p:nvSpPr>
          <p:cNvPr id="372" name="Google Shape;372;p11"/>
          <p:cNvSpPr txBox="1"/>
          <p:nvPr/>
        </p:nvSpPr>
        <p:spPr>
          <a:xfrm>
            <a:off x="1828800" y="219456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Built to $1.8M revenue with zero outside cash. Capital-efficient founders who know how to do more with less.</a:t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1371600" y="4754880"/>
            <a:ext cx="1097280" cy="274320"/>
          </a:xfrm>
          <a:prstGeom prst="rect">
            <a:avLst/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1"/>
          <p:cNvSpPr txBox="1"/>
          <p:nvPr/>
        </p:nvSpPr>
        <p:spPr>
          <a:xfrm>
            <a:off x="1280160" y="44805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$200K</a:t>
            </a:r>
            <a:endParaRPr/>
          </a:p>
        </p:txBody>
      </p:sp>
      <p:sp>
        <p:nvSpPr>
          <p:cNvPr id="375" name="Google Shape;375;p11"/>
          <p:cNvSpPr txBox="1"/>
          <p:nvPr/>
        </p:nvSpPr>
        <p:spPr>
          <a:xfrm>
            <a:off x="1371600" y="507492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2022</a:t>
            </a:r>
            <a:endParaRPr/>
          </a:p>
        </p:txBody>
      </p:sp>
      <p:sp>
        <p:nvSpPr>
          <p:cNvPr id="376" name="Google Shape;376;p11"/>
          <p:cNvSpPr/>
          <p:nvPr/>
        </p:nvSpPr>
        <p:spPr>
          <a:xfrm>
            <a:off x="3017520" y="4229100"/>
            <a:ext cx="1097280" cy="800100"/>
          </a:xfrm>
          <a:prstGeom prst="rect">
            <a:avLst/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 txBox="1"/>
          <p:nvPr/>
        </p:nvSpPr>
        <p:spPr>
          <a:xfrm>
            <a:off x="2926080" y="39547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$600K</a:t>
            </a:r>
            <a:endParaRPr/>
          </a:p>
        </p:txBody>
      </p:sp>
      <p:sp>
        <p:nvSpPr>
          <p:cNvPr id="378" name="Google Shape;378;p11"/>
          <p:cNvSpPr txBox="1"/>
          <p:nvPr/>
        </p:nvSpPr>
        <p:spPr>
          <a:xfrm>
            <a:off x="3017520" y="507492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2023</a:t>
            </a: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4663440" y="3657600"/>
            <a:ext cx="1097280" cy="1371600"/>
          </a:xfrm>
          <a:prstGeom prst="rect">
            <a:avLst/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 txBox="1"/>
          <p:nvPr/>
        </p:nvSpPr>
        <p:spPr>
          <a:xfrm>
            <a:off x="4572000" y="33832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$1.2M</a:t>
            </a:r>
            <a:endParaRPr/>
          </a:p>
        </p:txBody>
      </p:sp>
      <p:sp>
        <p:nvSpPr>
          <p:cNvPr id="381" name="Google Shape;381;p11"/>
          <p:cNvSpPr txBox="1"/>
          <p:nvPr/>
        </p:nvSpPr>
        <p:spPr>
          <a:xfrm>
            <a:off x="4663440" y="507492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2024</a:t>
            </a:r>
            <a:endParaRPr/>
          </a:p>
        </p:txBody>
      </p:sp>
      <p:sp>
        <p:nvSpPr>
          <p:cNvPr id="382" name="Google Shape;382;p11"/>
          <p:cNvSpPr/>
          <p:nvPr/>
        </p:nvSpPr>
        <p:spPr>
          <a:xfrm>
            <a:off x="6309360" y="3314700"/>
            <a:ext cx="1097280" cy="1714500"/>
          </a:xfrm>
          <a:prstGeom prst="rect">
            <a:avLst/>
          </a:prstGeom>
          <a:solidFill>
            <a:srgbClr val="2A5E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1"/>
          <p:cNvSpPr txBox="1"/>
          <p:nvPr/>
        </p:nvSpPr>
        <p:spPr>
          <a:xfrm>
            <a:off x="6217920" y="30403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$1.8M</a:t>
            </a:r>
            <a:endParaRPr/>
          </a:p>
        </p:txBody>
      </p:sp>
      <p:sp>
        <p:nvSpPr>
          <p:cNvPr id="384" name="Google Shape;384;p11"/>
          <p:cNvSpPr txBox="1"/>
          <p:nvPr/>
        </p:nvSpPr>
        <p:spPr>
          <a:xfrm>
            <a:off x="6309360" y="507492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2025E</a:t>
            </a:r>
            <a:endParaRPr/>
          </a:p>
        </p:txBody>
      </p:sp>
      <p:sp>
        <p:nvSpPr>
          <p:cNvPr id="385" name="Google Shape;385;p11"/>
          <p:cNvSpPr/>
          <p:nvPr/>
        </p:nvSpPr>
        <p:spPr>
          <a:xfrm>
            <a:off x="7955279" y="3017520"/>
            <a:ext cx="1097280" cy="2011680"/>
          </a:xfrm>
          <a:prstGeom prst="rect">
            <a:avLst/>
          </a:prstGeom>
          <a:solidFill>
            <a:srgbClr val="2A5E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1"/>
          <p:cNvSpPr txBox="1"/>
          <p:nvPr/>
        </p:nvSpPr>
        <p:spPr>
          <a:xfrm>
            <a:off x="7863839" y="27432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$3.5M</a:t>
            </a:r>
            <a:endParaRPr/>
          </a:p>
        </p:txBody>
      </p:sp>
      <p:sp>
        <p:nvSpPr>
          <p:cNvPr id="387" name="Google Shape;387;p11"/>
          <p:cNvSpPr txBox="1"/>
          <p:nvPr/>
        </p:nvSpPr>
        <p:spPr>
          <a:xfrm>
            <a:off x="7955279" y="507492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2026P</a:t>
            </a:r>
            <a:endParaRPr/>
          </a:p>
        </p:txBody>
      </p:sp>
      <p:sp>
        <p:nvSpPr>
          <p:cNvPr id="388" name="Google Shape;388;p11"/>
          <p:cNvSpPr/>
          <p:nvPr/>
        </p:nvSpPr>
        <p:spPr>
          <a:xfrm>
            <a:off x="9601200" y="2743200"/>
            <a:ext cx="1097280" cy="2286000"/>
          </a:xfrm>
          <a:prstGeom prst="rect">
            <a:avLst/>
          </a:prstGeom>
          <a:solidFill>
            <a:srgbClr val="2A5E4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 txBox="1"/>
          <p:nvPr/>
        </p:nvSpPr>
        <p:spPr>
          <a:xfrm>
            <a:off x="9509760" y="246888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$8–9M</a:t>
            </a:r>
            <a:endParaRPr/>
          </a:p>
        </p:txBody>
      </p:sp>
      <p:sp>
        <p:nvSpPr>
          <p:cNvPr id="390" name="Google Shape;390;p11"/>
          <p:cNvSpPr txBox="1"/>
          <p:nvPr/>
        </p:nvSpPr>
        <p:spPr>
          <a:xfrm>
            <a:off x="9601200" y="5074920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2027P</a:t>
            </a:r>
            <a:endParaRPr/>
          </a:p>
        </p:txBody>
      </p:sp>
      <p:sp>
        <p:nvSpPr>
          <p:cNvPr id="391" name="Google Shape;391;p11"/>
          <p:cNvSpPr/>
          <p:nvPr/>
        </p:nvSpPr>
        <p:spPr>
          <a:xfrm>
            <a:off x="731520" y="5486400"/>
            <a:ext cx="3474720" cy="100584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 txBox="1"/>
          <p:nvPr/>
        </p:nvSpPr>
        <p:spPr>
          <a:xfrm>
            <a:off x="868680" y="553212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Gross Margin</a:t>
            </a:r>
            <a:endParaRPr/>
          </a:p>
        </p:txBody>
      </p:sp>
      <p:sp>
        <p:nvSpPr>
          <p:cNvPr id="393" name="Google Shape;393;p11"/>
          <p:cNvSpPr txBox="1"/>
          <p:nvPr/>
        </p:nvSpPr>
        <p:spPr>
          <a:xfrm>
            <a:off x="868680" y="57607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20–35%</a:t>
            </a:r>
            <a:endParaRPr/>
          </a:p>
        </p:txBody>
      </p:sp>
      <p:sp>
        <p:nvSpPr>
          <p:cNvPr id="394" name="Google Shape;394;p11"/>
          <p:cNvSpPr txBox="1"/>
          <p:nvPr/>
        </p:nvSpPr>
        <p:spPr>
          <a:xfrm>
            <a:off x="868680" y="60807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Performance margin, growing with AI</a:t>
            </a:r>
            <a:endParaRPr/>
          </a:p>
        </p:txBody>
      </p:sp>
      <p:sp>
        <p:nvSpPr>
          <p:cNvPr id="395" name="Google Shape;395;p11"/>
          <p:cNvSpPr/>
          <p:nvPr/>
        </p:nvSpPr>
        <p:spPr>
          <a:xfrm>
            <a:off x="4480559" y="5486400"/>
            <a:ext cx="3474720" cy="100584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 txBox="1"/>
          <p:nvPr/>
        </p:nvSpPr>
        <p:spPr>
          <a:xfrm>
            <a:off x="4617719" y="553212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Net Revenue Retention</a:t>
            </a:r>
            <a:endParaRPr/>
          </a:p>
        </p:txBody>
      </p:sp>
      <p:sp>
        <p:nvSpPr>
          <p:cNvPr id="397" name="Google Shape;397;p11"/>
          <p:cNvSpPr txBox="1"/>
          <p:nvPr/>
        </p:nvSpPr>
        <p:spPr>
          <a:xfrm>
            <a:off x="4617719" y="57607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~120%</a:t>
            </a:r>
            <a:endParaRPr/>
          </a:p>
        </p:txBody>
      </p:sp>
      <p:sp>
        <p:nvSpPr>
          <p:cNvPr id="398" name="Google Shape;398;p11"/>
          <p:cNvSpPr txBox="1"/>
          <p:nvPr/>
        </p:nvSpPr>
        <p:spPr>
          <a:xfrm>
            <a:off x="4617719" y="60807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Existing clients increase spend YoY</a:t>
            </a:r>
            <a:endParaRPr/>
          </a:p>
        </p:txBody>
      </p:sp>
      <p:sp>
        <p:nvSpPr>
          <p:cNvPr id="399" name="Google Shape;399;p11"/>
          <p:cNvSpPr/>
          <p:nvPr/>
        </p:nvSpPr>
        <p:spPr>
          <a:xfrm>
            <a:off x="8229600" y="5486400"/>
            <a:ext cx="3474720" cy="100584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 txBox="1"/>
          <p:nvPr/>
        </p:nvSpPr>
        <p:spPr>
          <a:xfrm>
            <a:off x="8366760" y="553212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Revenue per Employee</a:t>
            </a:r>
            <a:endParaRPr/>
          </a:p>
        </p:txBody>
      </p:sp>
      <p:sp>
        <p:nvSpPr>
          <p:cNvPr id="401" name="Google Shape;401;p11"/>
          <p:cNvSpPr txBox="1"/>
          <p:nvPr/>
        </p:nvSpPr>
        <p:spPr>
          <a:xfrm>
            <a:off x="8366760" y="5760720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$200K</a:t>
            </a:r>
            <a:endParaRPr/>
          </a:p>
        </p:txBody>
      </p:sp>
      <p:sp>
        <p:nvSpPr>
          <p:cNvPr id="402" name="Google Shape;402;p11"/>
          <p:cNvSpPr txBox="1"/>
          <p:nvPr/>
        </p:nvSpPr>
        <p:spPr>
          <a:xfrm>
            <a:off x="8366760" y="608076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$1.8M revenue ÷ 9 team members</a:t>
            </a:r>
            <a:endParaRPr/>
          </a:p>
        </p:txBody>
      </p:sp>
      <p:sp>
        <p:nvSpPr>
          <p:cNvPr id="403" name="Google Shape;403;p11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CONFIDENTIAL — Perff AI © 2026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519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2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12 / 15</a:t>
            </a:r>
            <a:endParaRPr/>
          </a:p>
        </p:txBody>
      </p:sp>
      <p:sp>
        <p:nvSpPr>
          <p:cNvPr id="409" name="Google Shape;409;p12"/>
          <p:cNvSpPr txBox="1"/>
          <p:nvPr/>
        </p:nvSpPr>
        <p:spPr>
          <a:xfrm>
            <a:off x="1371600" y="457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THE TEAM</a:t>
            </a:r>
            <a:endParaRPr/>
          </a:p>
        </p:txBody>
      </p:sp>
      <p:sp>
        <p:nvSpPr>
          <p:cNvPr id="410" name="Google Shape;410;p12"/>
          <p:cNvSpPr txBox="1"/>
          <p:nvPr/>
        </p:nvSpPr>
        <p:spPr>
          <a:xfrm>
            <a:off x="731520" y="822960"/>
            <a:ext cx="10698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 by MENA Insiders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40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Who Know This Market.</a:t>
            </a:r>
            <a:endParaRPr/>
          </a:p>
        </p:txBody>
      </p:sp>
      <p:sp>
        <p:nvSpPr>
          <p:cNvPr id="411" name="Google Shape;411;p12"/>
          <p:cNvSpPr txBox="1"/>
          <p:nvPr/>
        </p:nvSpPr>
        <p:spPr>
          <a:xfrm>
            <a:off x="1828800" y="210312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10+ years of MENA performance marketing experience. A previous exit. Deep brand relationships.</a:t>
            </a: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457200" y="2651760"/>
            <a:ext cx="3566160" cy="246888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457200" y="2651760"/>
            <a:ext cx="3566160" cy="38100"/>
          </a:xfrm>
          <a:prstGeom prst="rect">
            <a:avLst/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640080" y="2834640"/>
            <a:ext cx="548640" cy="548640"/>
          </a:xfrm>
          <a:prstGeom prst="roundRect">
            <a:avLst>
              <a:gd fmla="val 16667" name="adj"/>
            </a:avLst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2"/>
          <p:cNvSpPr txBox="1"/>
          <p:nvPr/>
        </p:nvSpPr>
        <p:spPr>
          <a:xfrm>
            <a:off x="640080" y="292608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519"/>
                </a:solidFill>
                <a:latin typeface="Calibri"/>
                <a:ea typeface="Calibri"/>
                <a:cs typeface="Calibri"/>
                <a:sym typeface="Calibri"/>
              </a:rPr>
              <a:t>RH</a:t>
            </a:r>
            <a:endParaRPr/>
          </a:p>
        </p:txBody>
      </p:sp>
      <p:sp>
        <p:nvSpPr>
          <p:cNvPr id="416" name="Google Shape;416;p12"/>
          <p:cNvSpPr txBox="1"/>
          <p:nvPr/>
        </p:nvSpPr>
        <p:spPr>
          <a:xfrm>
            <a:off x="1325880" y="28346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Rima Hani</a:t>
            </a:r>
            <a:endParaRPr/>
          </a:p>
        </p:txBody>
      </p:sp>
      <p:sp>
        <p:nvSpPr>
          <p:cNvPr id="417" name="Google Shape;417;p12"/>
          <p:cNvSpPr txBox="1"/>
          <p:nvPr/>
        </p:nvSpPr>
        <p:spPr>
          <a:xfrm>
            <a:off x="1325880" y="310896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Co-Founder &amp; CEO</a:t>
            </a:r>
            <a:endParaRPr/>
          </a:p>
        </p:txBody>
      </p:sp>
      <p:sp>
        <p:nvSpPr>
          <p:cNvPr id="418" name="Google Shape;418;p12"/>
          <p:cNvSpPr txBox="1"/>
          <p:nvPr/>
        </p:nvSpPr>
        <p:spPr>
          <a:xfrm>
            <a:off x="640080" y="347472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10+ years leading performance marketing across MENA. Built and scaled affiliate programs for the region's largest brands.</a:t>
            </a:r>
            <a:endParaRPr/>
          </a:p>
        </p:txBody>
      </p:sp>
      <p:sp>
        <p:nvSpPr>
          <p:cNvPr id="419" name="Google Shape;419;p12"/>
          <p:cNvSpPr txBox="1"/>
          <p:nvPr/>
        </p:nvSpPr>
        <p:spPr>
          <a:xfrm>
            <a:off x="640080" y="43891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Ex-Equiti · Ex-DigiZag · Abu Dhabi</a:t>
            </a:r>
            <a:endParaRPr/>
          </a:p>
        </p:txBody>
      </p:sp>
      <p:sp>
        <p:nvSpPr>
          <p:cNvPr id="420" name="Google Shape;420;p12"/>
          <p:cNvSpPr/>
          <p:nvPr/>
        </p:nvSpPr>
        <p:spPr>
          <a:xfrm>
            <a:off x="4297680" y="2651760"/>
            <a:ext cx="3566160" cy="246888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2"/>
          <p:cNvSpPr/>
          <p:nvPr/>
        </p:nvSpPr>
        <p:spPr>
          <a:xfrm>
            <a:off x="4297680" y="2651760"/>
            <a:ext cx="3566160" cy="38100"/>
          </a:xfrm>
          <a:prstGeom prst="rect">
            <a:avLst/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4480560" y="2834640"/>
            <a:ext cx="548640" cy="548640"/>
          </a:xfrm>
          <a:prstGeom prst="roundRect">
            <a:avLst>
              <a:gd fmla="val 16667" name="adj"/>
            </a:avLst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 txBox="1"/>
          <p:nvPr/>
        </p:nvSpPr>
        <p:spPr>
          <a:xfrm>
            <a:off x="4480560" y="292608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519"/>
                </a:solidFill>
                <a:latin typeface="Calibri"/>
                <a:ea typeface="Calibri"/>
                <a:cs typeface="Calibri"/>
                <a:sym typeface="Calibri"/>
              </a:rPr>
              <a:t>FA</a:t>
            </a:r>
            <a:endParaRPr/>
          </a:p>
        </p:txBody>
      </p:sp>
      <p:sp>
        <p:nvSpPr>
          <p:cNvPr id="424" name="Google Shape;424;p12"/>
          <p:cNvSpPr txBox="1"/>
          <p:nvPr/>
        </p:nvSpPr>
        <p:spPr>
          <a:xfrm>
            <a:off x="5166360" y="28346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Fahad Alsaedi</a:t>
            </a:r>
            <a:endParaRPr/>
          </a:p>
        </p:txBody>
      </p:sp>
      <p:sp>
        <p:nvSpPr>
          <p:cNvPr id="425" name="Google Shape;425;p12"/>
          <p:cNvSpPr txBox="1"/>
          <p:nvPr/>
        </p:nvSpPr>
        <p:spPr>
          <a:xfrm>
            <a:off x="5166360" y="310896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Co-Founder &amp; CTO</a:t>
            </a:r>
            <a:endParaRPr/>
          </a:p>
        </p:txBody>
      </p:sp>
      <p:sp>
        <p:nvSpPr>
          <p:cNvPr id="426" name="Google Shape;426;p12"/>
          <p:cNvSpPr txBox="1"/>
          <p:nvPr/>
        </p:nvSpPr>
        <p:spPr>
          <a:xfrm>
            <a:off x="4480560" y="347472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Serial technical founder with a previous exit. Former engineering lead at Nana (nana.sa). Deep expertise in scalable platforms &amp; AI/ML.</a:t>
            </a:r>
            <a:endParaRPr/>
          </a:p>
        </p:txBody>
      </p:sp>
      <p:sp>
        <p:nvSpPr>
          <p:cNvPr id="427" name="Google Shape;427;p12"/>
          <p:cNvSpPr txBox="1"/>
          <p:nvPr/>
        </p:nvSpPr>
        <p:spPr>
          <a:xfrm>
            <a:off x="4480560" y="43891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1× Exit · Ex-Nana · MBIT · Saudi Arabia</a:t>
            </a:r>
            <a:endParaRPr/>
          </a:p>
        </p:txBody>
      </p:sp>
      <p:sp>
        <p:nvSpPr>
          <p:cNvPr id="428" name="Google Shape;428;p12"/>
          <p:cNvSpPr/>
          <p:nvPr/>
        </p:nvSpPr>
        <p:spPr>
          <a:xfrm>
            <a:off x="8138160" y="2651760"/>
            <a:ext cx="3566160" cy="246888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2"/>
          <p:cNvSpPr/>
          <p:nvPr/>
        </p:nvSpPr>
        <p:spPr>
          <a:xfrm>
            <a:off x="8138160" y="2651760"/>
            <a:ext cx="3566160" cy="38100"/>
          </a:xfrm>
          <a:prstGeom prst="rect">
            <a:avLst/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2"/>
          <p:cNvSpPr/>
          <p:nvPr/>
        </p:nvSpPr>
        <p:spPr>
          <a:xfrm>
            <a:off x="8321040" y="2834640"/>
            <a:ext cx="548640" cy="548640"/>
          </a:xfrm>
          <a:prstGeom prst="roundRect">
            <a:avLst>
              <a:gd fmla="val 16667" name="adj"/>
            </a:avLst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2"/>
          <p:cNvSpPr txBox="1"/>
          <p:nvPr/>
        </p:nvSpPr>
        <p:spPr>
          <a:xfrm>
            <a:off x="8321040" y="292608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B1519"/>
                </a:solidFill>
                <a:latin typeface="Calibri"/>
                <a:ea typeface="Calibri"/>
                <a:cs typeface="Calibri"/>
                <a:sym typeface="Calibri"/>
              </a:rPr>
              <a:t>SC</a:t>
            </a:r>
            <a:endParaRPr/>
          </a:p>
        </p:txBody>
      </p:sp>
      <p:sp>
        <p:nvSpPr>
          <p:cNvPr id="432" name="Google Shape;432;p12"/>
          <p:cNvSpPr txBox="1"/>
          <p:nvPr/>
        </p:nvSpPr>
        <p:spPr>
          <a:xfrm>
            <a:off x="9006840" y="283464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Sadah Chanti</a:t>
            </a:r>
            <a:endParaRPr/>
          </a:p>
        </p:txBody>
      </p:sp>
      <p:sp>
        <p:nvSpPr>
          <p:cNvPr id="433" name="Google Shape;433;p12"/>
          <p:cNvSpPr txBox="1"/>
          <p:nvPr/>
        </p:nvSpPr>
        <p:spPr>
          <a:xfrm>
            <a:off x="9006840" y="3108960"/>
            <a:ext cx="25603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Co-Founder &amp; COO</a:t>
            </a:r>
            <a:endParaRPr/>
          </a:p>
        </p:txBody>
      </p:sp>
      <p:sp>
        <p:nvSpPr>
          <p:cNvPr id="434" name="Google Shape;434;p12"/>
          <p:cNvSpPr txBox="1"/>
          <p:nvPr/>
        </p:nvSpPr>
        <p:spPr>
          <a:xfrm>
            <a:off x="8321040" y="3474720"/>
            <a:ext cx="3200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Bilingual Regional Head of Communications with 17+ years leading high-performing teams across content, video, and account management.</a:t>
            </a:r>
            <a:endParaRPr/>
          </a:p>
        </p:txBody>
      </p:sp>
      <p:sp>
        <p:nvSpPr>
          <p:cNvPr id="435" name="Google Shape;435;p12"/>
          <p:cNvSpPr txBox="1"/>
          <p:nvPr/>
        </p:nvSpPr>
        <p:spPr>
          <a:xfrm>
            <a:off x="8321040" y="438912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17+ Years · Communications · Riyadh, KSA</a:t>
            </a:r>
            <a:endParaRPr/>
          </a:p>
        </p:txBody>
      </p:sp>
      <p:sp>
        <p:nvSpPr>
          <p:cNvPr id="436" name="Google Shape;436;p12"/>
          <p:cNvSpPr txBox="1"/>
          <p:nvPr/>
        </p:nvSpPr>
        <p:spPr>
          <a:xfrm>
            <a:off x="4114800" y="530352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CORE TEAM</a:t>
            </a:r>
            <a:endParaRPr/>
          </a:p>
        </p:txBody>
      </p:sp>
      <p:sp>
        <p:nvSpPr>
          <p:cNvPr id="437" name="Google Shape;437;p12"/>
          <p:cNvSpPr txBox="1"/>
          <p:nvPr/>
        </p:nvSpPr>
        <p:spPr>
          <a:xfrm>
            <a:off x="457200" y="562356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Amer Kilani</a:t>
            </a:r>
            <a:endParaRPr/>
          </a:p>
        </p:txBody>
      </p:sp>
      <p:sp>
        <p:nvSpPr>
          <p:cNvPr id="438" name="Google Shape;438;p12"/>
          <p:cNvSpPr txBox="1"/>
          <p:nvPr/>
        </p:nvSpPr>
        <p:spPr>
          <a:xfrm>
            <a:off x="457200" y="58064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General Manager</a:t>
            </a:r>
            <a:endParaRPr/>
          </a:p>
        </p:txBody>
      </p:sp>
      <p:sp>
        <p:nvSpPr>
          <p:cNvPr id="439" name="Google Shape;439;p12"/>
          <p:cNvSpPr txBox="1"/>
          <p:nvPr/>
        </p:nvSpPr>
        <p:spPr>
          <a:xfrm>
            <a:off x="457200" y="594360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📍 Amman</a:t>
            </a:r>
            <a:endParaRPr/>
          </a:p>
        </p:txBody>
      </p:sp>
      <p:sp>
        <p:nvSpPr>
          <p:cNvPr id="440" name="Google Shape;440;p12"/>
          <p:cNvSpPr txBox="1"/>
          <p:nvPr/>
        </p:nvSpPr>
        <p:spPr>
          <a:xfrm>
            <a:off x="2423160" y="562356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Abeer Hani</a:t>
            </a:r>
            <a:endParaRPr/>
          </a:p>
        </p:txBody>
      </p:sp>
      <p:sp>
        <p:nvSpPr>
          <p:cNvPr id="441" name="Google Shape;441;p12"/>
          <p:cNvSpPr txBox="1"/>
          <p:nvPr/>
        </p:nvSpPr>
        <p:spPr>
          <a:xfrm>
            <a:off x="2423160" y="58064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Head of Communications</a:t>
            </a:r>
            <a:endParaRPr/>
          </a:p>
        </p:txBody>
      </p:sp>
      <p:sp>
        <p:nvSpPr>
          <p:cNvPr id="442" name="Google Shape;442;p12"/>
          <p:cNvSpPr txBox="1"/>
          <p:nvPr/>
        </p:nvSpPr>
        <p:spPr>
          <a:xfrm>
            <a:off x="2423160" y="594360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📍 Riyadh</a:t>
            </a:r>
            <a:endParaRPr/>
          </a:p>
        </p:txBody>
      </p:sp>
      <p:sp>
        <p:nvSpPr>
          <p:cNvPr id="443" name="Google Shape;443;p12"/>
          <p:cNvSpPr txBox="1"/>
          <p:nvPr/>
        </p:nvSpPr>
        <p:spPr>
          <a:xfrm>
            <a:off x="4389120" y="562356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Fairouz Hamdan</a:t>
            </a:r>
            <a:endParaRPr/>
          </a:p>
        </p:txBody>
      </p:sp>
      <p:sp>
        <p:nvSpPr>
          <p:cNvPr id="444" name="Google Shape;444;p12"/>
          <p:cNvSpPr txBox="1"/>
          <p:nvPr/>
        </p:nvSpPr>
        <p:spPr>
          <a:xfrm>
            <a:off x="4389120" y="58064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Social Media Manager</a:t>
            </a:r>
            <a:endParaRPr/>
          </a:p>
        </p:txBody>
      </p:sp>
      <p:sp>
        <p:nvSpPr>
          <p:cNvPr id="445" name="Google Shape;445;p12"/>
          <p:cNvSpPr txBox="1"/>
          <p:nvPr/>
        </p:nvSpPr>
        <p:spPr>
          <a:xfrm>
            <a:off x="4389120" y="594360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📍 Amman</a:t>
            </a:r>
            <a:endParaRPr/>
          </a:p>
        </p:txBody>
      </p:sp>
      <p:sp>
        <p:nvSpPr>
          <p:cNvPr id="446" name="Google Shape;446;p12"/>
          <p:cNvSpPr txBox="1"/>
          <p:nvPr/>
        </p:nvSpPr>
        <p:spPr>
          <a:xfrm>
            <a:off x="6355079" y="562356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Samer Baibers</a:t>
            </a:r>
            <a:endParaRPr/>
          </a:p>
        </p:txBody>
      </p:sp>
      <p:sp>
        <p:nvSpPr>
          <p:cNvPr id="447" name="Google Shape;447;p12"/>
          <p:cNvSpPr txBox="1"/>
          <p:nvPr/>
        </p:nvSpPr>
        <p:spPr>
          <a:xfrm>
            <a:off x="6355079" y="58064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Sr. Affiliate Manager</a:t>
            </a:r>
            <a:endParaRPr/>
          </a:p>
        </p:txBody>
      </p:sp>
      <p:sp>
        <p:nvSpPr>
          <p:cNvPr id="448" name="Google Shape;448;p12"/>
          <p:cNvSpPr txBox="1"/>
          <p:nvPr/>
        </p:nvSpPr>
        <p:spPr>
          <a:xfrm>
            <a:off x="6355079" y="594360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📍 Amman</a:t>
            </a:r>
            <a:endParaRPr/>
          </a:p>
        </p:txBody>
      </p:sp>
      <p:sp>
        <p:nvSpPr>
          <p:cNvPr id="449" name="Google Shape;449;p12"/>
          <p:cNvSpPr txBox="1"/>
          <p:nvPr/>
        </p:nvSpPr>
        <p:spPr>
          <a:xfrm>
            <a:off x="8321040" y="562356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Mohammed Alshaikh</a:t>
            </a:r>
            <a:endParaRPr/>
          </a:p>
        </p:txBody>
      </p:sp>
      <p:sp>
        <p:nvSpPr>
          <p:cNvPr id="450" name="Google Shape;450;p12"/>
          <p:cNvSpPr txBox="1"/>
          <p:nvPr/>
        </p:nvSpPr>
        <p:spPr>
          <a:xfrm>
            <a:off x="8321040" y="58064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Sr. Affiliate Manager</a:t>
            </a:r>
            <a:endParaRPr/>
          </a:p>
        </p:txBody>
      </p:sp>
      <p:sp>
        <p:nvSpPr>
          <p:cNvPr id="451" name="Google Shape;451;p12"/>
          <p:cNvSpPr txBox="1"/>
          <p:nvPr/>
        </p:nvSpPr>
        <p:spPr>
          <a:xfrm>
            <a:off x="8321040" y="594360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📍 Gaza</a:t>
            </a:r>
            <a:endParaRPr/>
          </a:p>
        </p:txBody>
      </p:sp>
      <p:sp>
        <p:nvSpPr>
          <p:cNvPr id="452" name="Google Shape;452;p12"/>
          <p:cNvSpPr txBox="1"/>
          <p:nvPr/>
        </p:nvSpPr>
        <p:spPr>
          <a:xfrm>
            <a:off x="10287000" y="562356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Lilian Alfar</a:t>
            </a:r>
            <a:endParaRPr/>
          </a:p>
        </p:txBody>
      </p:sp>
      <p:sp>
        <p:nvSpPr>
          <p:cNvPr id="453" name="Google Shape;453;p12"/>
          <p:cNvSpPr txBox="1"/>
          <p:nvPr/>
        </p:nvSpPr>
        <p:spPr>
          <a:xfrm>
            <a:off x="10287000" y="580644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Sr. Affiliate Account Exec</a:t>
            </a:r>
            <a:endParaRPr/>
          </a:p>
        </p:txBody>
      </p:sp>
      <p:sp>
        <p:nvSpPr>
          <p:cNvPr id="454" name="Google Shape;454;p12"/>
          <p:cNvSpPr txBox="1"/>
          <p:nvPr/>
        </p:nvSpPr>
        <p:spPr>
          <a:xfrm>
            <a:off x="10287000" y="5943600"/>
            <a:ext cx="1828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📍 Amman</a:t>
            </a:r>
            <a:endParaRPr/>
          </a:p>
        </p:txBody>
      </p:sp>
      <p:sp>
        <p:nvSpPr>
          <p:cNvPr id="455" name="Google Shape;455;p12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CONFIDENTIAL — Perff AI © 2026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519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3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13 / 15</a:t>
            </a:r>
            <a:endParaRPr/>
          </a:p>
        </p:txBody>
      </p:sp>
      <p:sp>
        <p:nvSpPr>
          <p:cNvPr id="461" name="Google Shape;461;p13"/>
          <p:cNvSpPr txBox="1"/>
          <p:nvPr/>
        </p:nvSpPr>
        <p:spPr>
          <a:xfrm>
            <a:off x="1371600" y="548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THE ASK</a:t>
            </a:r>
            <a:endParaRPr/>
          </a:p>
        </p:txBody>
      </p:sp>
      <p:sp>
        <p:nvSpPr>
          <p:cNvPr id="462" name="Google Shape;462;p13"/>
          <p:cNvSpPr txBox="1"/>
          <p:nvPr/>
        </p:nvSpPr>
        <p:spPr>
          <a:xfrm>
            <a:off x="731520" y="914400"/>
            <a:ext cx="106984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$8,000,000 Pre-Seed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40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to Build the Category.</a:t>
            </a:r>
            <a:endParaRPr/>
          </a:p>
        </p:txBody>
      </p:sp>
      <p:sp>
        <p:nvSpPr>
          <p:cNvPr id="463" name="Google Shape;463;p13"/>
          <p:cNvSpPr txBox="1"/>
          <p:nvPr/>
        </p:nvSpPr>
        <p:spPr>
          <a:xfrm>
            <a:off x="1828800" y="22860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We're raising $8M to build the definitive AI-powered affiliate marketing platform for MENA — before the window closes.</a:t>
            </a:r>
            <a:endParaRPr/>
          </a:p>
        </p:txBody>
      </p:sp>
      <p:sp>
        <p:nvSpPr>
          <p:cNvPr id="464" name="Google Shape;464;p13"/>
          <p:cNvSpPr/>
          <p:nvPr/>
        </p:nvSpPr>
        <p:spPr>
          <a:xfrm>
            <a:off x="2743200" y="3063240"/>
            <a:ext cx="182880" cy="182880"/>
          </a:xfrm>
          <a:prstGeom prst="ellipse">
            <a:avLst/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3"/>
          <p:cNvSpPr txBox="1"/>
          <p:nvPr/>
        </p:nvSpPr>
        <p:spPr>
          <a:xfrm>
            <a:off x="3017520" y="301752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AI Development — ML Engineers, Infrastructure, Training</a:t>
            </a:r>
            <a:endParaRPr/>
          </a:p>
        </p:txBody>
      </p:sp>
      <p:sp>
        <p:nvSpPr>
          <p:cNvPr id="466" name="Google Shape;466;p13"/>
          <p:cNvSpPr txBox="1"/>
          <p:nvPr/>
        </p:nvSpPr>
        <p:spPr>
          <a:xfrm>
            <a:off x="8229600" y="30175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40% · $3.2M</a:t>
            </a:r>
            <a:endParaRPr/>
          </a:p>
        </p:txBody>
      </p:sp>
      <p:sp>
        <p:nvSpPr>
          <p:cNvPr id="467" name="Google Shape;467;p13"/>
          <p:cNvSpPr/>
          <p:nvPr/>
        </p:nvSpPr>
        <p:spPr>
          <a:xfrm>
            <a:off x="2743200" y="3611880"/>
            <a:ext cx="182880" cy="182880"/>
          </a:xfrm>
          <a:prstGeom prst="ellipse">
            <a:avLst/>
          </a:prstGeom>
          <a:solidFill>
            <a:srgbClr val="4BA3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3"/>
          <p:cNvSpPr txBox="1"/>
          <p:nvPr/>
        </p:nvSpPr>
        <p:spPr>
          <a:xfrm>
            <a:off x="3017520" y="356616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Regional Expansion — KSA (Riyadh), Egypt (Cairo), Sales Teams</a:t>
            </a:r>
            <a:endParaRPr/>
          </a:p>
        </p:txBody>
      </p:sp>
      <p:sp>
        <p:nvSpPr>
          <p:cNvPr id="469" name="Google Shape;469;p13"/>
          <p:cNvSpPr txBox="1"/>
          <p:nvPr/>
        </p:nvSpPr>
        <p:spPr>
          <a:xfrm>
            <a:off x="8229600" y="356616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35% · $2.8M</a:t>
            </a:r>
            <a:endParaRPr/>
          </a:p>
        </p:txBody>
      </p:sp>
      <p:sp>
        <p:nvSpPr>
          <p:cNvPr id="470" name="Google Shape;470;p13"/>
          <p:cNvSpPr/>
          <p:nvPr/>
        </p:nvSpPr>
        <p:spPr>
          <a:xfrm>
            <a:off x="2743200" y="4160520"/>
            <a:ext cx="182880" cy="182880"/>
          </a:xfrm>
          <a:prstGeom prst="ellipse">
            <a:avLst/>
          </a:prstGeom>
          <a:solidFill>
            <a:srgbClr val="F0A54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3"/>
          <p:cNvSpPr txBox="1"/>
          <p:nvPr/>
        </p:nvSpPr>
        <p:spPr>
          <a:xfrm>
            <a:off x="3017520" y="411480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Marketing &amp; Growth — Brand Acquisition, Publisher Growth, Events</a:t>
            </a:r>
            <a:endParaRPr/>
          </a:p>
        </p:txBody>
      </p:sp>
      <p:sp>
        <p:nvSpPr>
          <p:cNvPr id="472" name="Google Shape;472;p13"/>
          <p:cNvSpPr txBox="1"/>
          <p:nvPr/>
        </p:nvSpPr>
        <p:spPr>
          <a:xfrm>
            <a:off x="8229600" y="411480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25% · $2.0M</a:t>
            </a:r>
            <a:endParaRPr/>
          </a:p>
        </p:txBody>
      </p:sp>
      <p:sp>
        <p:nvSpPr>
          <p:cNvPr id="473" name="Google Shape;473;p13"/>
          <p:cNvSpPr/>
          <p:nvPr/>
        </p:nvSpPr>
        <p:spPr>
          <a:xfrm>
            <a:off x="731520" y="4572000"/>
            <a:ext cx="5303520" cy="201168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13"/>
          <p:cNvSpPr txBox="1"/>
          <p:nvPr/>
        </p:nvSpPr>
        <p:spPr>
          <a:xfrm>
            <a:off x="914400" y="46634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12-MONTH MILESTONES</a:t>
            </a:r>
            <a:endParaRPr/>
          </a:p>
        </p:txBody>
      </p:sp>
      <p:sp>
        <p:nvSpPr>
          <p:cNvPr id="475" name="Google Shape;475;p13"/>
          <p:cNvSpPr txBox="1"/>
          <p:nvPr/>
        </p:nvSpPr>
        <p:spPr>
          <a:xfrm>
            <a:off x="914400" y="493776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✅ Full Perff AI platform GA launch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✅ 3 ML engineers hired and shipping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✅ KSA market entry — Riyadh office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✅ 1,500+ publisher network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✅ Self-serve brand dashboard live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✅ $4M+ revenue run rate</a:t>
            </a:r>
            <a:endParaRPr/>
          </a:p>
        </p:txBody>
      </p:sp>
      <p:sp>
        <p:nvSpPr>
          <p:cNvPr id="476" name="Google Shape;476;p13"/>
          <p:cNvSpPr/>
          <p:nvPr/>
        </p:nvSpPr>
        <p:spPr>
          <a:xfrm>
            <a:off x="6492240" y="4572000"/>
            <a:ext cx="5303520" cy="201168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3"/>
          <p:cNvSpPr txBox="1"/>
          <p:nvPr/>
        </p:nvSpPr>
        <p:spPr>
          <a:xfrm>
            <a:off x="6675120" y="46634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24-MONTH MILESTONES</a:t>
            </a:r>
            <a:endParaRPr/>
          </a:p>
        </p:txBody>
      </p:sp>
      <p:sp>
        <p:nvSpPr>
          <p:cNvPr id="478" name="Google Shape;478;p13"/>
          <p:cNvSpPr txBox="1"/>
          <p:nvPr/>
        </p:nvSpPr>
        <p:spPr>
          <a:xfrm>
            <a:off x="6675120" y="4937760"/>
            <a:ext cx="493776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✅ Egypt market entry — Cairo office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✅ 2,000+ publisher network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✅ Full AI stack deployed (fraud v2, scoring, API)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✅ SaaS revenue stream live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✅ $8–9M revenue run rate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✅ Series A ready</a:t>
            </a:r>
            <a:endParaRPr/>
          </a:p>
        </p:txBody>
      </p:sp>
      <p:sp>
        <p:nvSpPr>
          <p:cNvPr id="479" name="Google Shape;479;p13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CONFIDENTIAL — Perff AI © 2026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519"/>
        </a:solidFill>
      </p:bgPr>
    </p:bg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4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14 / 15</a:t>
            </a:r>
            <a:endParaRPr/>
          </a:p>
        </p:txBody>
      </p:sp>
      <p:sp>
        <p:nvSpPr>
          <p:cNvPr id="485" name="Google Shape;485;p14"/>
          <p:cNvSpPr txBox="1"/>
          <p:nvPr/>
        </p:nvSpPr>
        <p:spPr>
          <a:xfrm>
            <a:off x="731520" y="7315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WHY NOW</a:t>
            </a:r>
            <a:endParaRPr/>
          </a:p>
        </p:txBody>
      </p:sp>
      <p:sp>
        <p:nvSpPr>
          <p:cNvPr id="486" name="Google Shape;486;p14"/>
          <p:cNvSpPr txBox="1"/>
          <p:nvPr/>
        </p:nvSpPr>
        <p:spPr>
          <a:xfrm>
            <a:off x="731520" y="1097280"/>
            <a:ext cx="10058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Window Is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40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18–24 Months.</a:t>
            </a:r>
            <a:endParaRPr/>
          </a:p>
        </p:txBody>
      </p:sp>
      <p:sp>
        <p:nvSpPr>
          <p:cNvPr id="487" name="Google Shape;487;p14"/>
          <p:cNvSpPr txBox="1"/>
          <p:nvPr/>
        </p:nvSpPr>
        <p:spPr>
          <a:xfrm>
            <a:off x="731520" y="25603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D8E6EC"/>
                </a:solidFill>
                <a:latin typeface="Calibri"/>
                <a:ea typeface="Calibri"/>
                <a:cs typeface="Calibri"/>
                <a:sym typeface="Calibri"/>
              </a:rPr>
              <a:t>Five macro forces are converging to create a once-in-a-decade opportunity in MENA affiliate marketing.</a:t>
            </a:r>
            <a:endParaRPr/>
          </a:p>
        </p:txBody>
      </p:sp>
      <p:sp>
        <p:nvSpPr>
          <p:cNvPr id="488" name="Google Shape;488;p14"/>
          <p:cNvSpPr/>
          <p:nvPr/>
        </p:nvSpPr>
        <p:spPr>
          <a:xfrm>
            <a:off x="731520" y="3200400"/>
            <a:ext cx="3474720" cy="192024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4"/>
          <p:cNvSpPr/>
          <p:nvPr/>
        </p:nvSpPr>
        <p:spPr>
          <a:xfrm>
            <a:off x="731520" y="3200400"/>
            <a:ext cx="3474720" cy="38100"/>
          </a:xfrm>
          <a:prstGeom prst="rect">
            <a:avLst/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4"/>
          <p:cNvSpPr txBox="1"/>
          <p:nvPr/>
        </p:nvSpPr>
        <p:spPr>
          <a:xfrm>
            <a:off x="868680" y="338328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🛒</a:t>
            </a:r>
            <a:endParaRPr/>
          </a:p>
        </p:txBody>
      </p:sp>
      <p:sp>
        <p:nvSpPr>
          <p:cNvPr id="491" name="Google Shape;491;p14"/>
          <p:cNvSpPr txBox="1"/>
          <p:nvPr/>
        </p:nvSpPr>
        <p:spPr>
          <a:xfrm>
            <a:off x="868680" y="37033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E-Commerce Boom</a:t>
            </a:r>
            <a:endParaRPr/>
          </a:p>
        </p:txBody>
      </p:sp>
      <p:sp>
        <p:nvSpPr>
          <p:cNvPr id="492" name="Google Shape;492;p14"/>
          <p:cNvSpPr txBox="1"/>
          <p:nvPr/>
        </p:nvSpPr>
        <p:spPr>
          <a:xfrm>
            <a:off x="868680" y="397764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MENA e-commerce growing 15% YoY. $50B+ market. Every brand needs efficient acquisition.</a:t>
            </a:r>
            <a:endParaRPr/>
          </a:p>
        </p:txBody>
      </p:sp>
      <p:sp>
        <p:nvSpPr>
          <p:cNvPr id="493" name="Google Shape;493;p14"/>
          <p:cNvSpPr/>
          <p:nvPr/>
        </p:nvSpPr>
        <p:spPr>
          <a:xfrm>
            <a:off x="4480559" y="3200400"/>
            <a:ext cx="3474720" cy="192024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4"/>
          <p:cNvSpPr/>
          <p:nvPr/>
        </p:nvSpPr>
        <p:spPr>
          <a:xfrm>
            <a:off x="4480559" y="3200400"/>
            <a:ext cx="3474720" cy="38100"/>
          </a:xfrm>
          <a:prstGeom prst="rect">
            <a:avLst/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4"/>
          <p:cNvSpPr txBox="1"/>
          <p:nvPr/>
        </p:nvSpPr>
        <p:spPr>
          <a:xfrm>
            <a:off x="4617719" y="338328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🏗️</a:t>
            </a:r>
            <a:endParaRPr/>
          </a:p>
        </p:txBody>
      </p:sp>
      <p:sp>
        <p:nvSpPr>
          <p:cNvPr id="496" name="Google Shape;496;p14"/>
          <p:cNvSpPr txBox="1"/>
          <p:nvPr/>
        </p:nvSpPr>
        <p:spPr>
          <a:xfrm>
            <a:off x="4617719" y="37033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Vision 2030</a:t>
            </a:r>
            <a:endParaRPr/>
          </a:p>
        </p:txBody>
      </p:sp>
      <p:sp>
        <p:nvSpPr>
          <p:cNvPr id="497" name="Google Shape;497;p14"/>
          <p:cNvSpPr txBox="1"/>
          <p:nvPr/>
        </p:nvSpPr>
        <p:spPr>
          <a:xfrm>
            <a:off x="4617719" y="397764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Saudi Arabia investing billions in digital infrastructure. New e-commerce brands launching monthly.</a:t>
            </a:r>
            <a:endParaRPr/>
          </a:p>
        </p:txBody>
      </p:sp>
      <p:sp>
        <p:nvSpPr>
          <p:cNvPr id="498" name="Google Shape;498;p14"/>
          <p:cNvSpPr/>
          <p:nvPr/>
        </p:nvSpPr>
        <p:spPr>
          <a:xfrm>
            <a:off x="8229600" y="3200400"/>
            <a:ext cx="3474720" cy="192024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4"/>
          <p:cNvSpPr/>
          <p:nvPr/>
        </p:nvSpPr>
        <p:spPr>
          <a:xfrm>
            <a:off x="8229600" y="3200400"/>
            <a:ext cx="3474720" cy="38100"/>
          </a:xfrm>
          <a:prstGeom prst="rect">
            <a:avLst/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4"/>
          <p:cNvSpPr txBox="1"/>
          <p:nvPr/>
        </p:nvSpPr>
        <p:spPr>
          <a:xfrm>
            <a:off x="8366760" y="338328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/>
          </a:p>
        </p:txBody>
      </p:sp>
      <p:sp>
        <p:nvSpPr>
          <p:cNvPr id="501" name="Google Shape;501;p14"/>
          <p:cNvSpPr txBox="1"/>
          <p:nvPr/>
        </p:nvSpPr>
        <p:spPr>
          <a:xfrm>
            <a:off x="8366760" y="370332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Inflection</a:t>
            </a:r>
            <a:endParaRPr/>
          </a:p>
        </p:txBody>
      </p:sp>
      <p:sp>
        <p:nvSpPr>
          <p:cNvPr id="502" name="Google Shape;502;p14"/>
          <p:cNvSpPr txBox="1"/>
          <p:nvPr/>
        </p:nvSpPr>
        <p:spPr>
          <a:xfrm>
            <a:off x="8366760" y="397764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Gen-AI and ML tools now accessible. Our 250+ campaign dataset gives us a head start.</a:t>
            </a:r>
            <a:endParaRPr/>
          </a:p>
        </p:txBody>
      </p:sp>
      <p:sp>
        <p:nvSpPr>
          <p:cNvPr id="503" name="Google Shape;503;p14"/>
          <p:cNvSpPr/>
          <p:nvPr/>
        </p:nvSpPr>
        <p:spPr>
          <a:xfrm>
            <a:off x="731520" y="5394960"/>
            <a:ext cx="3474720" cy="192024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4"/>
          <p:cNvSpPr/>
          <p:nvPr/>
        </p:nvSpPr>
        <p:spPr>
          <a:xfrm>
            <a:off x="731520" y="5394960"/>
            <a:ext cx="3474720" cy="38100"/>
          </a:xfrm>
          <a:prstGeom prst="rect">
            <a:avLst/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4"/>
          <p:cNvSpPr txBox="1"/>
          <p:nvPr/>
        </p:nvSpPr>
        <p:spPr>
          <a:xfrm>
            <a:off x="868680" y="55778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💸</a:t>
            </a:r>
            <a:endParaRPr/>
          </a:p>
        </p:txBody>
      </p:sp>
      <p:sp>
        <p:nvSpPr>
          <p:cNvPr id="506" name="Google Shape;506;p14"/>
          <p:cNvSpPr txBox="1"/>
          <p:nvPr/>
        </p:nvSpPr>
        <p:spPr>
          <a:xfrm>
            <a:off x="868680" y="58978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CAC Crisis</a:t>
            </a:r>
            <a:endParaRPr/>
          </a:p>
        </p:txBody>
      </p:sp>
      <p:sp>
        <p:nvSpPr>
          <p:cNvPr id="507" name="Google Shape;507;p14"/>
          <p:cNvSpPr txBox="1"/>
          <p:nvPr/>
        </p:nvSpPr>
        <p:spPr>
          <a:xfrm>
            <a:off x="868680" y="617220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Facebook/Google CPAs rising 30%+ YoY in MENA. Brands seeking performance alternatives.</a:t>
            </a:r>
            <a:endParaRPr/>
          </a:p>
        </p:txBody>
      </p:sp>
      <p:sp>
        <p:nvSpPr>
          <p:cNvPr id="508" name="Google Shape;508;p14"/>
          <p:cNvSpPr/>
          <p:nvPr/>
        </p:nvSpPr>
        <p:spPr>
          <a:xfrm>
            <a:off x="4480559" y="5394960"/>
            <a:ext cx="3474720" cy="192024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4"/>
          <p:cNvSpPr/>
          <p:nvPr/>
        </p:nvSpPr>
        <p:spPr>
          <a:xfrm>
            <a:off x="4480559" y="5394960"/>
            <a:ext cx="3474720" cy="38100"/>
          </a:xfrm>
          <a:prstGeom prst="rect">
            <a:avLst/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4"/>
          <p:cNvSpPr txBox="1"/>
          <p:nvPr/>
        </p:nvSpPr>
        <p:spPr>
          <a:xfrm>
            <a:off x="4617719" y="55778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🌍</a:t>
            </a:r>
            <a:endParaRPr/>
          </a:p>
        </p:txBody>
      </p:sp>
      <p:sp>
        <p:nvSpPr>
          <p:cNvPr id="511" name="Google Shape;511;p14"/>
          <p:cNvSpPr txBox="1"/>
          <p:nvPr/>
        </p:nvSpPr>
        <p:spPr>
          <a:xfrm>
            <a:off x="4617719" y="58978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Incumbent</a:t>
            </a:r>
            <a:endParaRPr/>
          </a:p>
        </p:txBody>
      </p:sp>
      <p:sp>
        <p:nvSpPr>
          <p:cNvPr id="512" name="Google Shape;512;p14"/>
          <p:cNvSpPr txBox="1"/>
          <p:nvPr/>
        </p:nvSpPr>
        <p:spPr>
          <a:xfrm>
            <a:off x="4617719" y="617220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No dominant affiliate platform in MENA. Western players haven't localized.</a:t>
            </a:r>
            <a:endParaRPr/>
          </a:p>
        </p:txBody>
      </p:sp>
      <p:sp>
        <p:nvSpPr>
          <p:cNvPr id="513" name="Google Shape;513;p14"/>
          <p:cNvSpPr/>
          <p:nvPr/>
        </p:nvSpPr>
        <p:spPr>
          <a:xfrm>
            <a:off x="8229600" y="5394960"/>
            <a:ext cx="3474720" cy="192024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4"/>
          <p:cNvSpPr/>
          <p:nvPr/>
        </p:nvSpPr>
        <p:spPr>
          <a:xfrm>
            <a:off x="8229600" y="5394960"/>
            <a:ext cx="3474720" cy="38100"/>
          </a:xfrm>
          <a:prstGeom prst="rect">
            <a:avLst/>
          </a:prstGeom>
          <a:solidFill>
            <a:srgbClr val="63C29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14"/>
          <p:cNvSpPr txBox="1"/>
          <p:nvPr/>
        </p:nvSpPr>
        <p:spPr>
          <a:xfrm>
            <a:off x="8366760" y="5577840"/>
            <a:ext cx="457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⏰</a:t>
            </a:r>
            <a:endParaRPr/>
          </a:p>
        </p:txBody>
      </p:sp>
      <p:sp>
        <p:nvSpPr>
          <p:cNvPr id="516" name="Google Shape;516;p14"/>
          <p:cNvSpPr txBox="1"/>
          <p:nvPr/>
        </p:nvSpPr>
        <p:spPr>
          <a:xfrm>
            <a:off x="8366760" y="5897880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First-Mover Window</a:t>
            </a:r>
            <a:endParaRPr/>
          </a:p>
        </p:txBody>
      </p:sp>
      <p:sp>
        <p:nvSpPr>
          <p:cNvPr id="517" name="Google Shape;517;p14"/>
          <p:cNvSpPr txBox="1"/>
          <p:nvPr/>
        </p:nvSpPr>
        <p:spPr>
          <a:xfrm>
            <a:off x="8366760" y="6172200"/>
            <a:ext cx="3200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International platforms will enter MENA within 18–24 months. We must lead now.</a:t>
            </a:r>
            <a:endParaRPr/>
          </a:p>
        </p:txBody>
      </p:sp>
      <p:sp>
        <p:nvSpPr>
          <p:cNvPr id="518" name="Google Shape;518;p14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CONFIDENTIAL — Perff AI © 2026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519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15"/>
          <p:cNvSpPr txBox="1"/>
          <p:nvPr/>
        </p:nvSpPr>
        <p:spPr>
          <a:xfrm>
            <a:off x="10789920" y="27432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15 / 15</a:t>
            </a:r>
            <a:endParaRPr/>
          </a:p>
        </p:txBody>
      </p:sp>
      <p:sp>
        <p:nvSpPr>
          <p:cNvPr id="524" name="Google Shape;524;p15"/>
          <p:cNvSpPr txBox="1"/>
          <p:nvPr/>
        </p:nvSpPr>
        <p:spPr>
          <a:xfrm>
            <a:off x="1371600" y="9144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LET'S BUILD THE FUTURE OF MENA PERFORMANCE MARKETING</a:t>
            </a:r>
            <a:endParaRPr/>
          </a:p>
        </p:txBody>
      </p:sp>
      <p:sp>
        <p:nvSpPr>
          <p:cNvPr id="525" name="Google Shape;525;p15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Turn MENA's Ad Spend Into</a:t>
            </a:r>
            <a:b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48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Measurable Growth.</a:t>
            </a:r>
            <a:endParaRPr/>
          </a:p>
        </p:txBody>
      </p:sp>
      <p:sp>
        <p:nvSpPr>
          <p:cNvPr id="526" name="Google Shape;526;p15"/>
          <p:cNvSpPr/>
          <p:nvPr/>
        </p:nvSpPr>
        <p:spPr>
          <a:xfrm>
            <a:off x="2286000" y="3200400"/>
            <a:ext cx="1645920" cy="91440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5"/>
          <p:cNvSpPr txBox="1"/>
          <p:nvPr/>
        </p:nvSpPr>
        <p:spPr>
          <a:xfrm>
            <a:off x="2377440" y="324612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Raising</a:t>
            </a:r>
            <a:endParaRPr/>
          </a:p>
        </p:txBody>
      </p:sp>
      <p:sp>
        <p:nvSpPr>
          <p:cNvPr id="528" name="Google Shape;528;p15"/>
          <p:cNvSpPr txBox="1"/>
          <p:nvPr/>
        </p:nvSpPr>
        <p:spPr>
          <a:xfrm>
            <a:off x="2377440" y="347472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$8M</a:t>
            </a:r>
            <a:endParaRPr/>
          </a:p>
        </p:txBody>
      </p:sp>
      <p:sp>
        <p:nvSpPr>
          <p:cNvPr id="529" name="Google Shape;529;p15"/>
          <p:cNvSpPr/>
          <p:nvPr/>
        </p:nvSpPr>
        <p:spPr>
          <a:xfrm>
            <a:off x="4297680" y="3200400"/>
            <a:ext cx="1645920" cy="91440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5"/>
          <p:cNvSpPr txBox="1"/>
          <p:nvPr/>
        </p:nvSpPr>
        <p:spPr>
          <a:xfrm>
            <a:off x="4389120" y="324612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Revenue</a:t>
            </a:r>
            <a:endParaRPr/>
          </a:p>
        </p:txBody>
      </p:sp>
      <p:sp>
        <p:nvSpPr>
          <p:cNvPr id="531" name="Google Shape;531;p15"/>
          <p:cNvSpPr txBox="1"/>
          <p:nvPr/>
        </p:nvSpPr>
        <p:spPr>
          <a:xfrm>
            <a:off x="4389120" y="347472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$1.8M</a:t>
            </a:r>
            <a:endParaRPr/>
          </a:p>
        </p:txBody>
      </p:sp>
      <p:sp>
        <p:nvSpPr>
          <p:cNvPr id="532" name="Google Shape;532;p15"/>
          <p:cNvSpPr/>
          <p:nvPr/>
        </p:nvSpPr>
        <p:spPr>
          <a:xfrm>
            <a:off x="6309360" y="3200400"/>
            <a:ext cx="1645920" cy="91440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5"/>
          <p:cNvSpPr txBox="1"/>
          <p:nvPr/>
        </p:nvSpPr>
        <p:spPr>
          <a:xfrm>
            <a:off x="6400800" y="324612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Brands</a:t>
            </a:r>
            <a:endParaRPr/>
          </a:p>
        </p:txBody>
      </p:sp>
      <p:sp>
        <p:nvSpPr>
          <p:cNvPr id="534" name="Google Shape;534;p15"/>
          <p:cNvSpPr txBox="1"/>
          <p:nvPr/>
        </p:nvSpPr>
        <p:spPr>
          <a:xfrm>
            <a:off x="6400800" y="347472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50+</a:t>
            </a:r>
            <a:endParaRPr/>
          </a:p>
        </p:txBody>
      </p:sp>
      <p:sp>
        <p:nvSpPr>
          <p:cNvPr id="535" name="Google Shape;535;p15"/>
          <p:cNvSpPr/>
          <p:nvPr/>
        </p:nvSpPr>
        <p:spPr>
          <a:xfrm>
            <a:off x="8321040" y="3200400"/>
            <a:ext cx="1645920" cy="91440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5"/>
          <p:cNvSpPr txBox="1"/>
          <p:nvPr/>
        </p:nvSpPr>
        <p:spPr>
          <a:xfrm>
            <a:off x="8412480" y="324612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Publishers</a:t>
            </a:r>
            <a:endParaRPr/>
          </a:p>
        </p:txBody>
      </p:sp>
      <p:sp>
        <p:nvSpPr>
          <p:cNvPr id="537" name="Google Shape;537;p15"/>
          <p:cNvSpPr txBox="1"/>
          <p:nvPr/>
        </p:nvSpPr>
        <p:spPr>
          <a:xfrm>
            <a:off x="8412480" y="3474720"/>
            <a:ext cx="1463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63C29D"/>
                </a:solidFill>
                <a:latin typeface="Consolas"/>
                <a:ea typeface="Consolas"/>
                <a:cs typeface="Consolas"/>
                <a:sym typeface="Consolas"/>
              </a:rPr>
              <a:t>870+</a:t>
            </a:r>
            <a:endParaRPr/>
          </a:p>
        </p:txBody>
      </p:sp>
      <p:sp>
        <p:nvSpPr>
          <p:cNvPr id="538" name="Google Shape;538;p15"/>
          <p:cNvSpPr/>
          <p:nvPr/>
        </p:nvSpPr>
        <p:spPr>
          <a:xfrm>
            <a:off x="3657600" y="4389120"/>
            <a:ext cx="4572000" cy="1645920"/>
          </a:xfrm>
          <a:prstGeom prst="roundRect">
            <a:avLst>
              <a:gd fmla="val 16667" name="adj"/>
            </a:avLst>
          </a:prstGeom>
          <a:solidFill>
            <a:srgbClr val="0E1E2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5"/>
          <p:cNvSpPr txBox="1"/>
          <p:nvPr/>
        </p:nvSpPr>
        <p:spPr>
          <a:xfrm>
            <a:off x="3840480" y="448056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Rima Hani</a:t>
            </a:r>
            <a:endParaRPr/>
          </a:p>
        </p:txBody>
      </p:sp>
      <p:sp>
        <p:nvSpPr>
          <p:cNvPr id="540" name="Google Shape;540;p15"/>
          <p:cNvSpPr txBox="1"/>
          <p:nvPr/>
        </p:nvSpPr>
        <p:spPr>
          <a:xfrm>
            <a:off x="3840480" y="480060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63C29D"/>
                </a:solidFill>
                <a:latin typeface="Calibri"/>
                <a:ea typeface="Calibri"/>
                <a:cs typeface="Calibri"/>
                <a:sym typeface="Calibri"/>
              </a:rPr>
              <a:t>Co-Founder &amp; CEO</a:t>
            </a:r>
            <a:endParaRPr/>
          </a:p>
        </p:txBody>
      </p:sp>
      <p:sp>
        <p:nvSpPr>
          <p:cNvPr id="541" name="Google Shape;541;p15"/>
          <p:cNvSpPr txBox="1"/>
          <p:nvPr/>
        </p:nvSpPr>
        <p:spPr>
          <a:xfrm>
            <a:off x="3840480" y="5029200"/>
            <a:ext cx="4206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rima.hani@globalnetwork.global</a:t>
            </a:r>
            <a:endParaRPr/>
          </a:p>
        </p:txBody>
      </p:sp>
      <p:sp>
        <p:nvSpPr>
          <p:cNvPr id="542" name="Google Shape;542;p15"/>
          <p:cNvSpPr txBox="1"/>
          <p:nvPr/>
        </p:nvSpPr>
        <p:spPr>
          <a:xfrm>
            <a:off x="3840480" y="5303520"/>
            <a:ext cx="420624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9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perff.net</a:t>
            </a:r>
            <a:br>
              <a:rPr b="0" lang="en-US" sz="9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USA (HQ) · Abu Dhabi, UAE · Amman, Jordan · Riyadh, KSA · Gaza, Palestine</a:t>
            </a:r>
            <a:br>
              <a:rPr b="0" lang="en-US" sz="9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lang="en-US" sz="9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UAE: +971 506856839 · Jordan: +962 796314887</a:t>
            </a:r>
            <a:endParaRPr/>
          </a:p>
        </p:txBody>
      </p:sp>
      <p:sp>
        <p:nvSpPr>
          <p:cNvPr id="543" name="Google Shape;543;p15"/>
          <p:cNvSpPr txBox="1"/>
          <p:nvPr/>
        </p:nvSpPr>
        <p:spPr>
          <a:xfrm>
            <a:off x="3200400" y="621792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000">
                <a:solidFill>
                  <a:srgbClr val="587E8C"/>
                </a:solidFill>
                <a:latin typeface="Calibri"/>
                <a:ea typeface="Calibri"/>
                <a:cs typeface="Calibri"/>
                <a:sym typeface="Calibri"/>
              </a:rPr>
              <a:t>© 2026 Perff AI (Perff Inc.). Confidential &amp; Proprietary.</a:t>
            </a:r>
            <a:endParaRPr/>
          </a:p>
        </p:txBody>
      </p:sp>
      <p:sp>
        <p:nvSpPr>
          <p:cNvPr id="544" name="Google Shape;544;p15"/>
          <p:cNvSpPr txBox="1"/>
          <p:nvPr/>
        </p:nvSpPr>
        <p:spPr>
          <a:xfrm>
            <a:off x="4114800" y="649224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">
                <a:solidFill>
                  <a:srgbClr val="587E8C"/>
                </a:solidFill>
                <a:latin typeface="Consolas"/>
                <a:ea typeface="Consolas"/>
                <a:cs typeface="Consolas"/>
                <a:sym typeface="Consolas"/>
              </a:rPr>
              <a:t>CONFIDENTIAL — Perff AI © 2026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